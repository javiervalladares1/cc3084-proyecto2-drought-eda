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F3A5F"/>
                </a:solidFill>
              </a:defRPr>
            </a:pPr>
            <a:r>
              <a:t>A Step Ahead of Drought</a:t>
            </a:r>
          </a:p>
          <a:p>
            <a:pPr>
              <a:defRPr sz="2200">
                <a:solidFill>
                  <a:srgbClr val="0F6E63"/>
                </a:solidFill>
              </a:defRPr>
            </a:pPr>
            <a:r>
              <a:t>Pronóstico global de almacenamiento de agua · Reto ITU</a:t>
            </a:r>
          </a:p>
          <a:p>
            <a:pPr>
              <a:defRPr sz="2000">
                <a:solidFill>
                  <a:srgbClr val="444A52"/>
                </a:solidFill>
              </a:defRPr>
            </a:pPr>
            <a:r>
              <a:t>Proyecto 2 — Análisis Exploratorio</a:t>
            </a:r>
          </a:p>
          <a:p>
            <a:pPr>
              <a:defRPr sz="1500">
                <a:solidFill>
                  <a:srgbClr val="444A52"/>
                </a:solidFill>
              </a:defRPr>
            </a:pPr>
            <a:r>
              <a:t>CC3084 Data Science · Universidad del Valle de Guatemala · Semestre II 2026</a:t>
            </a:r>
          </a:p>
          <a:p>
            <a:pPr>
              <a:defRPr sz="1400">
                <a:solidFill>
                  <a:srgbClr val="444A52"/>
                </a:solidFill>
              </a:defRPr>
            </a:pPr>
            <a:r>
              <a:t>Integrantes: 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Contexto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44A52"/>
                </a:solidFill>
              </a:defRPr>
            </a:pPr>
            <a:r>
              <a:t>•  El TWS (Total Water Storage) es toda el agua sobre y bajo la superficie: subterránea, humedad del suelo, superficial, nieve y hielo.</a:t>
            </a:r>
          </a:p>
          <a:p>
            <a:pPr>
              <a:spcAft>
                <a:spcPts val="1000"/>
              </a:spcAft>
              <a:defRPr sz="1600">
                <a:solidFill>
                  <a:srgbClr val="444A52"/>
                </a:solidFill>
              </a:defRPr>
            </a:pPr>
            <a:r>
              <a:t>•  Las misiones GRACE y GRACE-FO lo estiman midiendo variaciones del campo gravitatorio terrestre.</a:t>
            </a:r>
          </a:p>
          <a:p>
            <a:pPr>
              <a:spcAft>
                <a:spcPts val="1000"/>
              </a:spcAft>
              <a:defRPr sz="1600">
                <a:solidFill>
                  <a:srgbClr val="444A52"/>
                </a:solidFill>
              </a:defRPr>
            </a:pPr>
            <a:r>
              <a:t>•  Es el mejor indicador integrado de sequía hidrológica a gran escala.</a:t>
            </a:r>
          </a:p>
        </p:txBody>
      </p:sp>
      <p:pic>
        <p:nvPicPr>
          <p:cNvPr id="4" name="Picture 3" descr="18_mapa_prome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6217920" cy="3375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Medimos el agua del planeta pesándolo desde el espacio.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Problema científico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El problema: los productos GRACE se publican con 2 a 3 meses de retraso. Para alerta temprana se necesita el estado actual, y se tiene el de hace un trimestre.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El reto: predecir el TWS del mes siguiente. Métrica de evaluación: RMSE.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Pregunta científica: ¿qué patrones temporales, estacionales y espaciales presenta el TWS, y qué variables se asocian más con el valor del mes siguiente?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Objetivo: caracterizar esos patrones para sustentar un modelo posterior de pronóstico a un 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La información existe, pero llega tarde para decidir.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Descripción del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2 154 021 observaciones de entrenamiento · 280 961 de prueba · 13 variables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Rejilla global de 1°, con 15 715 celdas, de −55.5° a 83.5° de latitud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Periodo: mayo 2002 – agosto 2015 (138 meses observados)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Variables: TWS_t, SPEI a 1/3/6/12 meses, SOIL_MOISTURE_t y target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Todas estandarizadas y adimensionales: no son centímetros de 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Una fila por mes y por celda del planeta.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Calidad y limpieza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Cero nulos y cero duplicados. Pero eso engaña.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El formato es plano: un mes no observado no genera filas, en vez de generar NaN.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Faltan 22 de los 160 meses del calendario (13.8 %), en 2002–2003 y 2011–2014.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Atípicos: 0.25 % en target, 2.58 % en humedad del suelo. No se eliminaron: se agrupan en años y regiones concretos y son lo que el reto busca anticipar.</a:t>
            </a:r>
          </a:p>
        </p:txBody>
      </p:sp>
      <p:pic>
        <p:nvPicPr>
          <p:cNvPr id="4" name="Picture 3" descr="10_cobertura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03120"/>
            <a:ext cx="5943600" cy="2353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isna().sum() daba cero y aun así faltaba el 14 % del periodo.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Principales patrones temporales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Tendencia descendente: el promedio anual cae de 0.322 en 2004 a −0.136 en 2015.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serie no es estacionaria (Dickey-Fuller, p = 0.526). La tendencia explica el 64 % de la varianza; el ciclo anual, solo el 3 %.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No depende de la agregación: promedio simple y ponderado por área correlacionan 0.936.</a:t>
            </a:r>
          </a:p>
        </p:txBody>
      </p:sp>
      <p:pic>
        <p:nvPicPr>
          <p:cNvPr id="4" name="Picture 3" descr="16_media_mov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606040"/>
            <a:ext cx="9235440" cy="3678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El registro muestra un descenso sostenido, y la serie tiene memoria larga.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La estacionalidad que casi no vemos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A primera vista no hay estacionalidad: solo el 3 % de la varianza.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causa: los hemisferios tienen ciclos opuestos y se cancelan al promediarse. El norte promedia positivo los 12 meses; el sur cae a −0.105 en junio.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Además, el 80.3 % de las celdas están en el hemisferio norte. Al separar por banda de latitud, el ciclo anual reaparece.</a:t>
            </a:r>
          </a:p>
        </p:txBody>
      </p:sp>
      <p:pic>
        <p:nvPicPr>
          <p:cNvPr id="4" name="Picture 3" descr="17_perfil_est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743200"/>
            <a:ext cx="9601200" cy="2948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Promediar el planeta entero borra el fenómeno. Hay que mirar por región.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Principales relaciones entre variables</a:t>
            </a:r>
          </a:p>
        </p:txBody>
      </p:sp>
      <p:pic>
        <p:nvPicPr>
          <p:cNvPr id="3" name="Picture 2" descr="19_matriz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4503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3716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Correlación con target: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TWS_t (persistencia) . . . 0.803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SPEI_12_t . . . . . . . . . . 0.380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SPEI_06_t . . . . . . . . . . 0.368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SOIL_MOISTURE_t . . . . 0.320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SPEI_03_t . . . . . . . . . . 0.285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SPEI_01_t . . . . . . . . . . 0.204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Los SPEI se ordenan exactamente por escala de acumulación.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Relaciones lineales: Pearson y Spearman difieren ≤ 0.024.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Asociación, no causalidad.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El agua tiene inercia, y la sequía de largo plazo importa más que la del mes pasado.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Hallazgos más importantes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Sin nulos ni duplicados, pero faltan 22 meses completos del calendario.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target es el TWS del mes calendario t+1 — verificado celda por celda.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Las variables están estandarizadas; no admiten lectura como volumen físico.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Tendencia descendente y serie no estacionaria en media.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estacionalidad se cancela globalmente pero existe por región.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Desbalance espacial: 80 % hemisferio norte; medias de −0.222 a 0.327 según banda.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Persistencia dominante (r = 0.803).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Línea base a superar: RMSE 0.5724.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Conclusiones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El problema de calidad no son los nulos, es la cobertura del calendario.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El promedio global no es representativo: hay que analizar por región.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inercia del sistema es la señal más fuerte disponible.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344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Reportar siempre contra la línea base (RMSE 0.5724).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Construir rezagos respetando los meses ausentes.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Incorporar la dimensión regional y validar por regiones.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Tratar la tendencia explícitamente.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Priorizar SPEI_12_t y SPEI_06_t.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Validación cronológica, nunca aleatoria.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Manejar el enmascaramiento del 66.53 % de TWS_t en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6E63"/>
                </a:solidFill>
              </a:defRPr>
            </a:pPr>
            <a: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6E63"/>
                </a:solidFill>
              </a:defRPr>
            </a:pPr>
            <a:r>
              <a:t>Próximos 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