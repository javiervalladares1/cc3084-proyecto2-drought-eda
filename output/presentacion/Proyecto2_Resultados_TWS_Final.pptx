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6.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8c0633d0d9a4966" /><Relationship Type="http://schemas.openxmlformats.org/officeDocument/2006/relationships/extended-properties" Target="/docProps/app.xml" Id="Rf8b8d827b7604d5d" /><Relationship Type="http://schemas.openxmlformats.org/officeDocument/2006/relationships/officeDocument" Target="/ppt/presentation.xml" Id="R6ca3987693b04a20" /></Relationships>
</file>

<file path=ppt/presentation.xml><?xml version="1.0" encoding="utf-8"?>
<p:presentation xmlns:p="http://schemas.openxmlformats.org/presentationml/2006/main">
  <p:sldMasterIdLst>
    <p:sldMasterId xmlns:r="http://schemas.openxmlformats.org/officeDocument/2006/relationships" id="2147483648" r:id="Rc259521018314e3e"/>
  </p:sldMasterIdLst>
  <p:notesMasterIdLst>
    <p:notesMasterId xmlns:r="http://schemas.openxmlformats.org/officeDocument/2006/relationships" r:id="R7017bf4605ed4e1a"/>
  </p:notesMasterIdLst>
  <p:sldIdLst>
    <p:sldId xmlns:r="http://schemas.openxmlformats.org/officeDocument/2006/relationships" id="256" r:id="R8c14309928054fa4"/>
    <p:sldId xmlns:r="http://schemas.openxmlformats.org/officeDocument/2006/relationships" id="257" r:id="R4a97b86a89e24700"/>
    <p:sldId xmlns:r="http://schemas.openxmlformats.org/officeDocument/2006/relationships" id="258" r:id="R0abb0888f0614e3c"/>
    <p:sldId xmlns:r="http://schemas.openxmlformats.org/officeDocument/2006/relationships" id="259" r:id="R41d34fff4b1443b9"/>
    <p:sldId xmlns:r="http://schemas.openxmlformats.org/officeDocument/2006/relationships" id="260" r:id="Rc58f19866e364ec6"/>
    <p:sldId xmlns:r="http://schemas.openxmlformats.org/officeDocument/2006/relationships" id="261" r:id="Rd5132a7f7f8740c7"/>
    <p:sldId xmlns:r="http://schemas.openxmlformats.org/officeDocument/2006/relationships" id="262" r:id="R78a5a5d044fb4244"/>
    <p:sldId xmlns:r="http://schemas.openxmlformats.org/officeDocument/2006/relationships" id="263" r:id="R93f1e8932af74ce8"/>
    <p:sldId xmlns:r="http://schemas.openxmlformats.org/officeDocument/2006/relationships" id="264" r:id="Rb0c9e124fdc64a62"/>
    <p:sldId xmlns:r="http://schemas.openxmlformats.org/officeDocument/2006/relationships" id="265" r:id="R708da3a8366d4c8a"/>
    <p:sldId xmlns:r="http://schemas.openxmlformats.org/officeDocument/2006/relationships" id="266" r:id="Rf793d3ac13b14dfb"/>
    <p:sldId xmlns:r="http://schemas.openxmlformats.org/officeDocument/2006/relationships" id="267" r:id="Rbdd19fd84f28413c"/>
    <p:sldId xmlns:r="http://schemas.openxmlformats.org/officeDocument/2006/relationships" id="268" r:id="R7e4f454a22d44fac"/>
    <p:sldId xmlns:r="http://schemas.openxmlformats.org/officeDocument/2006/relationships" id="269" r:id="Rc6d85e45d6a044fe"/>
    <p:sldId xmlns:r="http://schemas.openxmlformats.org/officeDocument/2006/relationships" id="270" r:id="R24967ce0f45a4ee8"/>
    <p:sldId xmlns:r="http://schemas.openxmlformats.org/officeDocument/2006/relationships" id="271" r:id="Rf4b18e7f2f054e6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da4c3c98344c29" /><Relationship Type="http://schemas.openxmlformats.org/officeDocument/2006/relationships/slideMaster" Target="/ppt/slideMasters/slideMaster1.xml" Id="Rc259521018314e3e" /><Relationship Type="http://schemas.openxmlformats.org/officeDocument/2006/relationships/notesMaster" Target="/ppt/notesMasters/notesMaster1.xml" Id="R7017bf4605ed4e1a" /><Relationship Type="http://schemas.openxmlformats.org/officeDocument/2006/relationships/presProps" Target="/ppt/presProps.xml" Id="R945037e7b0b34335" /><Relationship Type="http://schemas.openxmlformats.org/officeDocument/2006/relationships/tableStyles" Target="/ppt/tableStyles.xml" Id="R77da6eb254494899" /><Relationship Type="http://schemas.openxmlformats.org/officeDocument/2006/relationships/slide" Target="/ppt/slides/slide1.xml" Id="R8c14309928054fa4" /><Relationship Type="http://schemas.openxmlformats.org/officeDocument/2006/relationships/slide" Target="/ppt/slides/slide2.xml" Id="R4a97b86a89e24700" /><Relationship Type="http://schemas.openxmlformats.org/officeDocument/2006/relationships/slide" Target="/ppt/slides/slide3.xml" Id="R0abb0888f0614e3c" /><Relationship Type="http://schemas.openxmlformats.org/officeDocument/2006/relationships/slide" Target="/ppt/slides/slide4.xml" Id="R41d34fff4b1443b9" /><Relationship Type="http://schemas.openxmlformats.org/officeDocument/2006/relationships/slide" Target="/ppt/slides/slide5.xml" Id="Rc58f19866e364ec6" /><Relationship Type="http://schemas.openxmlformats.org/officeDocument/2006/relationships/slide" Target="/ppt/slides/slide6.xml" Id="Rd5132a7f7f8740c7" /><Relationship Type="http://schemas.openxmlformats.org/officeDocument/2006/relationships/slide" Target="/ppt/slides/slide7.xml" Id="R78a5a5d044fb4244" /><Relationship Type="http://schemas.openxmlformats.org/officeDocument/2006/relationships/slide" Target="/ppt/slides/slide8.xml" Id="R93f1e8932af74ce8" /><Relationship Type="http://schemas.openxmlformats.org/officeDocument/2006/relationships/slide" Target="/ppt/slides/slide9.xml" Id="Rb0c9e124fdc64a62" /><Relationship Type="http://schemas.openxmlformats.org/officeDocument/2006/relationships/slide" Target="/ppt/slides/slide10.xml" Id="R708da3a8366d4c8a" /><Relationship Type="http://schemas.openxmlformats.org/officeDocument/2006/relationships/slide" Target="/ppt/slides/slide11.xml" Id="Rf793d3ac13b14dfb" /><Relationship Type="http://schemas.openxmlformats.org/officeDocument/2006/relationships/slide" Target="/ppt/slides/slide12.xml" Id="Rbdd19fd84f28413c" /><Relationship Type="http://schemas.openxmlformats.org/officeDocument/2006/relationships/slide" Target="/ppt/slides/slide13.xml" Id="R7e4f454a22d44fac" /><Relationship Type="http://schemas.openxmlformats.org/officeDocument/2006/relationships/slide" Target="/ppt/slides/slide14.xml" Id="Rc6d85e45d6a044fe" /><Relationship Type="http://schemas.openxmlformats.org/officeDocument/2006/relationships/slide" Target="/ppt/slides/slide15.xml" Id="R24967ce0f45a4ee8" /><Relationship Type="http://schemas.openxmlformats.org/officeDocument/2006/relationships/slide" Target="/ppt/slides/slide16.xml" Id="Rf4b18e7f2f054e6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fe996d915f34f3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ea49ecd2a84a0f" /><Relationship Type="http://schemas.openxmlformats.org/officeDocument/2006/relationships/notesMaster" Target="/ppt/notesMasters/notesMaster1.xml" Id="R318eb1ec451d4f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99519240564141" /><Relationship Type="http://schemas.openxmlformats.org/officeDocument/2006/relationships/notesMaster" Target="/ppt/notesMasters/notesMaster1.xml" Id="R29750eb1fab240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c376ed8ef94713" /><Relationship Type="http://schemas.openxmlformats.org/officeDocument/2006/relationships/notesMaster" Target="/ppt/notesMasters/notesMaster1.xml" Id="Rb943fa75728b43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78ee79b7e10451e" /><Relationship Type="http://schemas.openxmlformats.org/officeDocument/2006/relationships/notesMaster" Target="/ppt/notesMasters/notesMaster1.xml" Id="Rae66b247efd84c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d7febd61714da8" /><Relationship Type="http://schemas.openxmlformats.org/officeDocument/2006/relationships/notesMaster" Target="/ppt/notesMasters/notesMaster1.xml" Id="R3db470484b284f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3ea11a5a224a57" /><Relationship Type="http://schemas.openxmlformats.org/officeDocument/2006/relationships/notesMaster" Target="/ppt/notesMasters/notesMaster1.xml" Id="R8da2236d16484a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7cabfce36e33474d" /><Relationship Type="http://schemas.openxmlformats.org/officeDocument/2006/relationships/notesMaster" Target="/ppt/notesMasters/notesMaster1.xml" Id="Rebb2e9bf3ee24f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a51bad2930c246fc" /><Relationship Type="http://schemas.openxmlformats.org/officeDocument/2006/relationships/notesMaster" Target="/ppt/notesMasters/notesMaster1.xml" Id="Re541549ba32547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9d3f3862150c42ef" /><Relationship Type="http://schemas.openxmlformats.org/officeDocument/2006/relationships/notesMaster" Target="/ppt/notesMasters/notesMaster1.xml" Id="R915273f3306c48a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a044d6187d24dcc" /><Relationship Type="http://schemas.openxmlformats.org/officeDocument/2006/relationships/notesMaster" Target="/ppt/notesMasters/notesMaster1.xml" Id="R623c2cf5c45e425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2a079dcc12e4ed4" /><Relationship Type="http://schemas.openxmlformats.org/officeDocument/2006/relationships/notesMaster" Target="/ppt/notesMasters/notesMaster1.xml" Id="Ra16744697f8c444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8506bc602564079" /><Relationship Type="http://schemas.openxmlformats.org/officeDocument/2006/relationships/notesMaster" Target="/ppt/notesMasters/notesMaster1.xml" Id="R1cd420feddd24e8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4f289a5cf3c4029" /><Relationship Type="http://schemas.openxmlformats.org/officeDocument/2006/relationships/notesMaster" Target="/ppt/notesMasters/notesMaster1.xml" Id="Ra7bf1c31436f46e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3884276960a41af" /><Relationship Type="http://schemas.openxmlformats.org/officeDocument/2006/relationships/notesMaster" Target="/ppt/notesMasters/notesMaster1.xml" Id="Rc9beeda957d2479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8ec2eafbae44ad7" /><Relationship Type="http://schemas.openxmlformats.org/officeDocument/2006/relationships/notesMaster" Target="/ppt/notesMasters/notesMaster1.xml" Id="Ra99a7f98434641c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7801738ced64f2a" /><Relationship Type="http://schemas.openxmlformats.org/officeDocument/2006/relationships/notesMaster" Target="/ppt/notesMasters/notesMaster1.xml" Id="R1e27bee67b0042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30 segundos</a:t>
            </a:r>
          </a:p>
          <a:p xmlns:a="http://schemas.openxmlformats.org/drawingml/2006/main">
            <a:r>
              <a:t/>
            </a:r>
          </a:p>
          <a:p xmlns:a="http://schemas.openxmlformats.org/drawingml/2006/main">
            <a:r>
              <a:t>Presentar el problema, las tres familias y el propósito de comparar resultados fuera de muestra.</a:t>
            </a:r>
          </a:p>
          <a:p xmlns:a="http://schemas.openxmlformats.org/drawingml/2006/main">
            <a:r>
              <a:t/>
            </a:r>
          </a:p>
          <a:p xmlns:a="http://schemas.openxmlformats.org/drawingml/2006/main">
            <a:r>
              <a:t>Fuentes de resultados: outputs/modelado/resumen_resultados.json y manifiestos de modelos. Datos: Zindi/ITU, https://zindi.world/competitions/one-step-ahead-of-drought-forecasting-global-water-storage-challenge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55 segundos</a:t>
            </a:r>
          </a:p>
          <a:p xmlns:a="http://schemas.openxmlformats.org/drawingml/2006/main">
            <a:r>
              <a:t/>
            </a:r>
          </a:p>
          <a:p xmlns:a="http://schemas.openxmlformats.org/drawingml/2006/main">
            <a:r>
              <a:t>Explicar que el objetivo es continuo, que t+1 es calendario y que el horizonte desde el último TWS cambia con sus faltantes. No interpretar valores estandarizados como centímetros. Fuente oficial del reto.</a:t>
            </a:r>
          </a:p>
          <a:p xmlns:a="http://schemas.openxmlformats.org/drawingml/2006/main">
            <a:r>
              <a:t/>
            </a:r>
          </a:p>
          <a:p xmlns:a="http://schemas.openxmlformats.org/drawingml/2006/main">
            <a:r>
              <a:t>Fuentes de resultados: outputs/modelado/resumen_resultados.json y manifiestos de modelos. Datos: Zindi/ITU, https://zindi.world/competitions/one-step-ahead-of-drought-forecasting-global-water-storage-challenge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55 segundos</a:t>
            </a:r>
          </a:p>
          <a:p xmlns:a="http://schemas.openxmlformats.org/drawingml/2006/main">
            <a:r>
              <a:t/>
            </a:r>
          </a:p>
          <a:p xmlns:a="http://schemas.openxmlformats.org/drawingml/2006/main">
            <a:r>
              <a:t>Destacar cantidad de filas frente a cantidad de meses independientes. Explicar el calendario y el desbalance espacial. Las cantidades proceden de la auditoría local.</a:t>
            </a:r>
          </a:p>
          <a:p xmlns:a="http://schemas.openxmlformats.org/drawingml/2006/main">
            <a:r>
              <a:t/>
            </a:r>
          </a:p>
          <a:p xmlns:a="http://schemas.openxmlformats.org/drawingml/2006/main">
            <a:r>
              <a:t>Fuentes de resultados: outputs/modelado/resumen_resultados.json y manifiestos de modelos. Datos: Zindi/ITU, https://zindi.world/competitions/one-step-ahead-of-drought-forecasting-global-water-storage-challenge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70 segundos</a:t>
            </a:r>
          </a:p>
          <a:p xmlns:a="http://schemas.openxmlformats.org/drawingml/2006/main">
            <a:r>
              <a:t/>
            </a:r>
          </a:p>
          <a:p xmlns:a="http://schemas.openxmlformats.org/drawingml/2006/main">
            <a:r>
              <a:t>Describir selección de configuraciones y de familia. La última etiqueta de entrenamiento precede a la primera de evaluación. La fecha usada es el mes del objetivo. No dividir filas aleatoriamente.</a:t>
            </a:r>
          </a:p>
          <a:p xmlns:a="http://schemas.openxmlformats.org/drawingml/2006/main">
            <a:r>
              <a:t/>
            </a:r>
          </a:p>
          <a:p xmlns:a="http://schemas.openxmlformats.org/drawingml/2006/main">
            <a:r>
              <a:t>Fuentes de resultados: outputs/modelado/resumen_resultados.json y manifiestos de modelos. Datos: Zindi/ITU, https://zindi.world/competitions/one-step-ahead-of-drought-forecasting-global-water-storage-challenge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55 segundos</a:t>
            </a:r>
          </a:p>
          <a:p xmlns:a="http://schemas.openxmlformats.org/drawingml/2006/main">
            <a:r>
              <a:t/>
            </a:r>
          </a:p>
          <a:p xmlns:a="http://schemas.openxmlformats.org/drawingml/2006/main">
            <a:r>
              <a:t>Citar los antecedentes aplicados y distinguir reconstrucción de pronóstico. Random Forest y boosting aparecen en A. Y. Sun et al. 2021. Li y Kusche 2026 y Palazzoli et al. 2025 respaldan memoria temporal. DOI: 10.1029/2020WR028666; 10.1029/2025WR041710; 10.1038/s41597-025-04403-3.</a:t>
            </a:r>
          </a:p>
          <a:p xmlns:a="http://schemas.openxmlformats.org/drawingml/2006/main">
            <a:r>
              <a:t/>
            </a:r>
          </a:p>
          <a:p xmlns:a="http://schemas.openxmlformats.org/drawingml/2006/main">
            <a:r>
              <a:t>Fuentes de resultados: outputs/modelado/resumen_resultados.json y manifiestos de modelos. Datos: Zindi/ITU, https://zindi.world/competitions/one-step-ahead-of-drought-forecasting-global-water-storage-challenge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a:t>
            </a:r>
          </a:p>
          <a:p xmlns:a="http://schemas.openxmlformats.org/drawingml/2006/main">
            <a:r>
              <a:t/>
            </a:r>
          </a:p>
          <a:p xmlns:a="http://schemas.openxmlformats.org/drawingml/2006/main">
            <a:r>
              <a:t>Explicar que los árboles reciben 57 valores aplanados y la LSTM la misma información organizada como secuencia y contexto. No usar target(t-1) para recuperar TWS oculto. El cero de relleno tiene indicadores explícitos.</a:t>
            </a:r>
          </a:p>
          <a:p xmlns:a="http://schemas.openxmlformats.org/drawingml/2006/main">
            <a:r>
              <a:t/>
            </a:r>
          </a:p>
          <a:p xmlns:a="http://schemas.openxmlformats.org/drawingml/2006/main">
            <a:r>
              <a:t>Fuentes de resultados: outputs/modelado/resumen_resultados.json y manifiestos de modelos. Datos: Zindi/ITU, https://zindi.world/competitions/one-step-ahead-of-drought-forecasting-global-water-storage-challenge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55 segundos</a:t>
            </a:r>
          </a:p>
          <a:p xmlns:a="http://schemas.openxmlformats.org/drawingml/2006/main">
            <a:r>
              <a:t/>
            </a:r>
          </a:p>
          <a:p xmlns:a="http://schemas.openxmlformats.org/drawingml/2006/main">
            <a:r>
              <a:t>Explicar tres configuraciones y elegir por RMSE de validación. La configuración seleccionada es RF_1. Los tiempos completos están en el informe. La mayor complejidad no garantiza mejor validación.</a:t>
            </a:r>
          </a:p>
          <a:p xmlns:a="http://schemas.openxmlformats.org/drawingml/2006/main">
            <a:r>
              <a:t/>
            </a:r>
          </a:p>
          <a:p xmlns:a="http://schemas.openxmlformats.org/drawingml/2006/main">
            <a:r>
              <a:t>Fuentes de resultados: outputs/modelado/resumen_resultados.json y manifiestos de modelos. Datos: Zindi/ITU, https://zindi.world/competitions/one-step-ahead-of-drought-forecasting-global-water-storage-challenge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55 segundos</a:t>
            </a:r>
          </a:p>
          <a:p xmlns:a="http://schemas.openxmlformats.org/drawingml/2006/main">
            <a:r>
              <a:t/>
            </a:r>
          </a:p>
          <a:p xmlns:a="http://schemas.openxmlformats.org/drawingml/2006/main">
            <a:r>
              <a:t>Explicar tres configuraciones y elegir por RMSE de validación. La configuración seleccionada es XGB_1. Los tiempos completos están en el informe. La mayor complejidad no garantiza mejor validación.</a:t>
            </a:r>
          </a:p>
          <a:p xmlns:a="http://schemas.openxmlformats.org/drawingml/2006/main">
            <a:r>
              <a:t/>
            </a:r>
          </a:p>
          <a:p xmlns:a="http://schemas.openxmlformats.org/drawingml/2006/main">
            <a:r>
              <a:t>Fuentes de resultados: outputs/modelado/resumen_resultados.json y manifiestos de modelos. Datos: Zindi/ITU, https://zindi.world/competitions/one-step-ahead-of-drought-forecasting-global-water-storage-challenge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a:t>
            </a:r>
          </a:p>
          <a:p xmlns:a="http://schemas.openxmlformats.org/drawingml/2006/main">
            <a:r>
              <a:t/>
            </a:r>
          </a:p>
          <a:p xmlns:a="http://schemas.openxmlformats.org/drawingml/2006/main">
            <a:r>
              <a:t>Describir una capa recurrente y una cabeza densa. Las tres configuraciones mejoraron inicialmente y luego sobreajustaron validación temporal. Se recuperó la mejor época, no la última. La red seleccionada usa el número de épocas fijado en validación.</a:t>
            </a:r>
          </a:p>
          <a:p xmlns:a="http://schemas.openxmlformats.org/drawingml/2006/main">
            <a:r>
              <a:t/>
            </a:r>
          </a:p>
          <a:p xmlns:a="http://schemas.openxmlformats.org/drawingml/2006/main">
            <a:r>
              <a:t>Fuentes de resultados: outputs/modelado/resumen_resultados.json y manifiestos de modelos. Datos: Zindi/ITU, https://zindi.world/competitions/one-step-ahead-of-drought-forecasting-global-water-storage-challenge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65 segundos</a:t>
            </a:r>
          </a:p>
          <a:p xmlns:a="http://schemas.openxmlformats.org/drawingml/2006/main">
            <a:r>
              <a:t/>
            </a:r>
          </a:p>
          <a:p xmlns:a="http://schemas.openxmlformats.org/drawingml/2006/main">
            <a:r>
              <a:t>Comparar siempre con referencias bajo la misma máscara y fechas. Estos resultados pertenecen a 265447 filas de 17 meses observados de 2014-2015. El archivo Test no tiene etiquetas y no aparece como una evaluación de precisión.</a:t>
            </a:r>
          </a:p>
          <a:p xmlns:a="http://schemas.openxmlformats.org/drawingml/2006/main">
            <a:r>
              <a:t/>
            </a:r>
          </a:p>
          <a:p xmlns:a="http://schemas.openxmlformats.org/drawingml/2006/main">
            <a:r>
              <a:t>Fuentes de resultados: outputs/modelado/resumen_resultados.json y manifiestos de modelos. Datos: Zindi/ITU, https://zindi.world/competitions/one-step-ahead-of-drought-forecasting-global-water-storage-challenge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55 segundos</a:t>
            </a:r>
          </a:p>
          <a:p xmlns:a="http://schemas.openxmlformats.org/drawingml/2006/main">
            <a:r>
              <a:t/>
            </a:r>
          </a:p>
          <a:p xmlns:a="http://schemas.openxmlformats.org/drawingml/2006/main">
            <a:r>
              <a:t>Mostrar que disponer del TWS actual cambia las condiciones de predicción. Los grupos tienen fechas diferentes, por lo que no se interpreta como efecto causal aislado. La tabla completa de antigüedad y región está en la entrega.</a:t>
            </a:r>
          </a:p>
          <a:p xmlns:a="http://schemas.openxmlformats.org/drawingml/2006/main">
            <a:r>
              <a:t/>
            </a:r>
          </a:p>
          <a:p xmlns:a="http://schemas.openxmlformats.org/drawingml/2006/main">
            <a:r>
              <a:t>Fuentes de resultados: outputs/modelado/resumen_resultados.json y manifiestos de modelos. Datos: Zindi/ITU, https://zindi.world/competitions/one-step-ahead-of-drought-forecasting-global-water-storage-challenge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55 segundos</a:t>
            </a:r>
          </a:p>
          <a:p xmlns:a="http://schemas.openxmlformats.org/drawingml/2006/main">
            <a:r>
              <a:t/>
            </a:r>
          </a:p>
          <a:p xmlns:a="http://schemas.openxmlformats.org/drawingml/2006/main">
            <a:r>
              <a:t>Relacionar el desbalance espacial y el error por región. No interpretar el promedio global como una garantía para todas las celdas. La evaluación usa ubicaciones conocidas y nuevas fechas.</a:t>
            </a:r>
          </a:p>
          <a:p xmlns:a="http://schemas.openxmlformats.org/drawingml/2006/main">
            <a:r>
              <a:t/>
            </a:r>
          </a:p>
          <a:p xmlns:a="http://schemas.openxmlformats.org/drawingml/2006/main">
            <a:r>
              <a:t>Fuentes de resultados: outputs/modelado/resumen_resultados.json y manifiestos de modelos. Datos: Zindi/ITU, https://zindi.world/competitions/one-step-ahead-of-drought-forecasting-global-water-storage-challenge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70 segundos</a:t>
            </a:r>
          </a:p>
          <a:p xmlns:a="http://schemas.openxmlformats.org/drawingml/2006/main">
            <a:r>
              <a:t/>
            </a:r>
          </a:p>
          <a:p xmlns:a="http://schemas.openxmlformats.org/drawingml/2006/main">
            <a:r>
              <a:t>Explicar tiempos locales con modelos cargados. La LSTM tiene el menor RMSE final descriptivo, pero la diferencia frente a XGBoost incluye cero en el intervalo de bloques temporales. La selección previa fue XGBoost. No atribuir superioridad universal al ganador de una sola prueba.</a:t>
            </a:r>
          </a:p>
          <a:p xmlns:a="http://schemas.openxmlformats.org/drawingml/2006/main">
            <a:r>
              <a:t/>
            </a:r>
          </a:p>
          <a:p xmlns:a="http://schemas.openxmlformats.org/drawingml/2006/main">
            <a:r>
              <a:t>Fuentes de resultados: outputs/modelado/resumen_resultados.json y manifiestos de modelos. Datos: Zindi/ITU, https://zindi.world/competitions/one-step-ahead-of-drought-forecasting-global-water-storage-challenge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65 segundos</a:t>
            </a:r>
          </a:p>
          <a:p xmlns:a="http://schemas.openxmlformats.org/drawingml/2006/main">
            <a:r>
              <a:t/>
            </a:r>
          </a:p>
          <a:p xmlns:a="http://schemas.openxmlformats.org/drawingml/2006/main">
            <a:r>
              <a:t>Demostrar la aplicación. La captura muestra una predicción real con modelos de producción. Se puede cargar CSV y elegir uno o los tres modelos. Las métricas provienen de modelos separados que conservaron la prueba reservada.</a:t>
            </a:r>
          </a:p>
          <a:p xmlns:a="http://schemas.openxmlformats.org/drawingml/2006/main">
            <a:r>
              <a:t/>
            </a:r>
          </a:p>
          <a:p xmlns:a="http://schemas.openxmlformats.org/drawingml/2006/main">
            <a:r>
              <a:t>Fuentes de resultados: outputs/modelado/resumen_resultados.json y manifiestos de modelos. Datos: Zindi/ITU, https://zindi.world/competitions/one-step-ahead-of-drought-forecasting-global-water-storage-challenge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60 segundos</a:t>
            </a:r>
          </a:p>
          <a:p xmlns:a="http://schemas.openxmlformats.org/drawingml/2006/main">
            <a:r>
              <a:t/>
            </a:r>
          </a:p>
          <a:p xmlns:a="http://schemas.openxmlformats.org/drawingml/2006/main">
            <a:r>
              <a:t>Concluir sobre cumplimiento de objetivos y condiciones de validez. El resultado no es una categoría de sequía ni volumen físico. Test no tiene etiquetas y las fechas futuras pueden cambiar de distribución. Las 280961 predicciones por algoritmo están completas.</a:t>
            </a:r>
          </a:p>
          <a:p xmlns:a="http://schemas.openxmlformats.org/drawingml/2006/main">
            <a:r>
              <a:t/>
            </a:r>
          </a:p>
          <a:p xmlns:a="http://schemas.openxmlformats.org/drawingml/2006/main">
            <a:r>
              <a:t>Fuentes de resultados: outputs/modelado/resumen_resultados.json y manifiestos de modelos. Datos: Zindi/ITU, https://zindi.world/competitions/one-step-ahead-of-drought-forecasting-global-water-storage-challenge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35 segundos</a:t>
            </a:r>
          </a:p>
          <a:p xmlns:a="http://schemas.openxmlformats.org/drawingml/2006/main">
            <a:r>
              <a:t/>
            </a:r>
          </a:p>
          <a:p xmlns:a="http://schemas.openxmlformats.org/drawingml/2006/main">
            <a:r>
              <a:t>Indicar dónde están los entregables y el comando de la aplicación. El informe incluye once referencias científicas y bibliografía técnica, y explica el protocolo y los resultados. Aclarar que los datos originales se descargan desde Zindi para reentrenar.</a:t>
            </a:r>
          </a:p>
          <a:p xmlns:a="http://schemas.openxmlformats.org/drawingml/2006/main">
            <a:r>
              <a:t/>
            </a:r>
          </a:p>
          <a:p xmlns:a="http://schemas.openxmlformats.org/drawingml/2006/main">
            <a:r>
              <a:t>Fuentes de resultados: outputs/modelado/resumen_resultados.json y manifiestos de modelos. Datos: Zindi/ITU, https://zindi.world/competitions/one-step-ahead-of-drought-forecasting-global-water-storage-challenge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ad7869c5764cf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bd0816998384b1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36ec463b60c498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a00691cb208406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3ee1309ecce48a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ebcb0b63f3449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4E471E-0633-4B27-B526-EE4CD76AFE9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CCD9F88-C992-4DB1-8EFE-6FD21B055E9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834FCBA-0587-4778-8A3E-BE130D74F7D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19A139-8E38-4140-A26C-AABF624279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3C0DC30-8661-417C-955D-31F32073402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D93065E-2ADF-4138-B65B-7802D65C83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D56EE7F-2903-4F54-A16F-8808952D24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600231-8D9D-4A1D-878C-838FADEFF81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14189A-886A-4955-8D6B-9CB1BF8EA9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B9F359-08BF-4DF7-8D28-1B384D6840F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74bac34ef5453f" /><Relationship Type="http://schemas.openxmlformats.org/officeDocument/2006/relationships/slideLayout" Target="/ppt/slideLayouts/slideLayout1.xml" Id="R3d23d4517a0e47f6" /><Relationship Type="http://schemas.openxmlformats.org/officeDocument/2006/relationships/slideLayout" Target="/ppt/slideLayouts/slideLayout2.xml" Id="Rb388ef3ed8bf4c53" /><Relationship Type="http://schemas.openxmlformats.org/officeDocument/2006/relationships/slideLayout" Target="/ppt/slideLayouts/slideLayout3.xml" Id="Rc9b8e1abec6348d6" /><Relationship Type="http://schemas.openxmlformats.org/officeDocument/2006/relationships/slideLayout" Target="/ppt/slideLayouts/slideLayout4.xml" Id="R66467f3985e94271" /><Relationship Type="http://schemas.openxmlformats.org/officeDocument/2006/relationships/slideLayout" Target="/ppt/slideLayouts/slideLayout5.xml" Id="Ra5d7205002fb4104" /><Relationship Type="http://schemas.openxmlformats.org/officeDocument/2006/relationships/slideLayout" Target="/ppt/slideLayouts/slideLayout6.xml" Id="Rf6872a39586a4d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d23d4517a0e47f6"/>
    <p:sldLayoutId xmlns:r="http://schemas.openxmlformats.org/officeDocument/2006/relationships" id="2147483650" r:id="Rb388ef3ed8bf4c53"/>
    <p:sldLayoutId xmlns:r="http://schemas.openxmlformats.org/officeDocument/2006/relationships" id="2147483651" r:id="Rc9b8e1abec6348d6"/>
    <p:sldLayoutId xmlns:r="http://schemas.openxmlformats.org/officeDocument/2006/relationships" id="2147483652" r:id="R66467f3985e94271"/>
    <p:sldLayoutId xmlns:r="http://schemas.openxmlformats.org/officeDocument/2006/relationships" id="2147483653" r:id="Ra5d7205002fb4104"/>
    <p:sldLayoutId xmlns:r="http://schemas.openxmlformats.org/officeDocument/2006/relationships" id="2147483654" r:id="Rf6872a39586a4d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328b673fba44c10" /><Relationship Type="http://schemas.openxmlformats.org/officeDocument/2006/relationships/notesSlide" Target="/ppt/notesSlides/notesSlide1.xml" Id="Ra3cb7b5acb5c49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25c2427d977457f" /><Relationship Type="http://schemas.openxmlformats.org/officeDocument/2006/relationships/notesSlide" Target="/ppt/notesSlides/notesSlide2.xml" Id="Rcb7c250a034e4c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badc303a342429d" /><Relationship Type="http://schemas.openxmlformats.org/officeDocument/2006/relationships/notesSlide" Target="/ppt/notesSlides/notesSlide3.xml" Id="Rc34796dfe0874ab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fec9037bdbf42e6" /><Relationship Type="http://schemas.openxmlformats.org/officeDocument/2006/relationships/notesSlide" Target="/ppt/notesSlides/notesSlide4.xml" Id="R2cea418bc12646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01050ce3467432f" /><Relationship Type="http://schemas.openxmlformats.org/officeDocument/2006/relationships/notesSlide" Target="/ppt/notesSlides/notesSlide5.xml" Id="R09293b8c0eb541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4fd5a3c87bf48c6" /><Relationship Type="http://schemas.openxmlformats.org/officeDocument/2006/relationships/notesSlide" Target="/ppt/notesSlides/notesSlide6.xml" Id="Rb2f8a97675124a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18f6914ca5f4ea2" /><Relationship Type="http://schemas.openxmlformats.org/officeDocument/2006/relationships/chart" Target="/ppt/slides/charts/chart1.xml" Id="R00e307a92f8a4ace" /><Relationship Type="http://schemas.openxmlformats.org/officeDocument/2006/relationships/notesSlide" Target="/ppt/notesSlides/notesSlide7.xml" Id="Rf614831441d649f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95115ea8dcd4b69" /><Relationship Type="http://schemas.openxmlformats.org/officeDocument/2006/relationships/chart" Target="/ppt/slides/charts/chart2.xml" Id="R4bdd09524be44faf" /><Relationship Type="http://schemas.openxmlformats.org/officeDocument/2006/relationships/notesSlide" Target="/ppt/notesSlides/notesSlide8.xml" Id="R9df7f8716db2458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d5a19414000431a" /><Relationship Type="http://schemas.openxmlformats.org/officeDocument/2006/relationships/chart" Target="/ppt/slides/charts/chart3.xml" Id="R32d4d68fcea24b7b" /><Relationship Type="http://schemas.openxmlformats.org/officeDocument/2006/relationships/notesSlide" Target="/ppt/notesSlides/notesSlide9.xml" Id="R2bb86dc54d864b5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0450be2b7684dec" /><Relationship Type="http://schemas.openxmlformats.org/officeDocument/2006/relationships/chart" Target="/ppt/slides/charts/chart4.xml" Id="R9e51edd0ea96467b" /><Relationship Type="http://schemas.openxmlformats.org/officeDocument/2006/relationships/notesSlide" Target="/ppt/notesSlides/notesSlide10.xml" Id="R037d52a9ff994dc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9ec60355fa8460e" /><Relationship Type="http://schemas.openxmlformats.org/officeDocument/2006/relationships/chart" Target="/ppt/slides/charts/chart5.xml" Id="R9dbba822e4534d74" /><Relationship Type="http://schemas.openxmlformats.org/officeDocument/2006/relationships/notesSlide" Target="/ppt/notesSlides/notesSlide11.xml" Id="R586799fc46a5494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e3af7bb32b34eb4" /><Relationship Type="http://schemas.openxmlformats.org/officeDocument/2006/relationships/chart" Target="/ppt/slides/charts/chart6.xml" Id="R8a87103c5d454e0a" /><Relationship Type="http://schemas.openxmlformats.org/officeDocument/2006/relationships/notesSlide" Target="/ppt/notesSlides/notesSlide12.xml" Id="R7becbb901a0d444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db0a3f6af0e4777" /><Relationship Type="http://schemas.openxmlformats.org/officeDocument/2006/relationships/notesSlide" Target="/ppt/notesSlides/notesSlide13.xml" Id="R7f3059e7d9f7414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eb8c8a45df94f8b" /><Relationship Type="http://schemas.openxmlformats.org/officeDocument/2006/relationships/image" Target="/ppt/media/image.jpeg" Id="R13cc7fbaadaa4ca8" /><Relationship Type="http://schemas.openxmlformats.org/officeDocument/2006/relationships/notesSlide" Target="/ppt/notesSlides/notesSlide14.xml" Id="R327acfb30686459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512dc2d3afe4fd6" /><Relationship Type="http://schemas.openxmlformats.org/officeDocument/2006/relationships/notesSlide" Target="/ppt/notesSlides/notesSlide15.xml" Id="Raf6b0cedd6ab498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c8edc8908b34a47" /><Relationship Type="http://schemas.openxmlformats.org/officeDocument/2006/relationships/notesSlide" Target="/ppt/notesSlides/notesSlide16.xml" Id="Reaae5c8433f146f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RMSE de validación</c:v>
          </c:tx>
          <c:spPr>
            <a:solidFill xmlns:a="http://schemas.openxmlformats.org/drawingml/2006/main">
              <a:srgbClr val="666666"/>
            </a:solidFill>
          </c:spPr>
          <c:dPt>
            <c:idx val="0"/>
            <c:invertIfNegative val="0"/>
            <c:spPr>
              <a:solidFill xmlns:a="http://schemas.openxmlformats.org/drawingml/2006/main">
                <a:srgbClr val="111111"/>
              </a:solidFill>
            </c:spPr>
          </c:dPt>
          <c:dPt>
            <c:idx val="1"/>
            <c:invertIfNegative val="0"/>
            <c:spPr>
              <a:solidFill xmlns:a="http://schemas.openxmlformats.org/drawingml/2006/main">
                <a:srgbClr val="AAAAAA"/>
              </a:solidFill>
            </c:spPr>
          </c:dPt>
          <c:dPt>
            <c:idx val="2"/>
            <c:invertIfNegative val="0"/>
            <c:spPr>
              <a:solidFill xmlns:a="http://schemas.openxmlformats.org/drawingml/2006/main">
                <a:srgbClr val="AAAAAA"/>
              </a:solidFill>
            </c:spPr>
          </c:dPt>
          <c:cat>
            <c:strRef>
              <c:f>'Chart Data'!$A$2:$A$4</c:f>
              <c:strCache>
                <c:ptCount val="3"/>
                <c:pt idx="0">
                  <c:v>RF_1</c:v>
                </c:pt>
                <c:pt idx="1">
                  <c:v>RF_2</c:v>
                </c:pt>
                <c:pt idx="2">
                  <c:v>RF_3</c:v>
                </c:pt>
              </c:strCache>
            </c:strRef>
          </c:cat>
          <c:val>
            <c:numRef>
              <c:f>'Chart Data'!$B$2:$B$4</c:f>
              <c:numCache>
                <c:formatCode>0.000</c:formatCode>
                <c:ptCount val="3"/>
                <c:pt idx="0">
                  <c:v>0.566346</c:v>
                </c:pt>
                <c:pt idx="1">
                  <c:v>0.567987</c:v>
                </c:pt>
                <c:pt idx="2">
                  <c:v>0.56677</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725">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000000"/>
            </a:solidFill>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1650">
                    <a:solidFill>
                      <a:srgbClr val="000000"/>
                    </a:solidFill>
                    <a:latin typeface="Arial"/>
                    <a:ea typeface="Arial"/>
                    <a:cs typeface="Arial"/>
                  </a:rPr>
                  <a:t>RMSE de validación 2011-2012</a:t>
                </a:r>
              </a:p>
            </c:rich>
          </c:tx>
          <c:overlay val="0"/>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RMSE de validación</c:v>
          </c:tx>
          <c:spPr>
            <a:solidFill xmlns:a="http://schemas.openxmlformats.org/drawingml/2006/main">
              <a:srgbClr val="666666"/>
            </a:solidFill>
          </c:spPr>
          <c:dPt>
            <c:idx val="0"/>
            <c:invertIfNegative val="0"/>
            <c:spPr>
              <a:solidFill xmlns:a="http://schemas.openxmlformats.org/drawingml/2006/main">
                <a:srgbClr val="111111"/>
              </a:solidFill>
            </c:spPr>
          </c:dPt>
          <c:dPt>
            <c:idx val="1"/>
            <c:invertIfNegative val="0"/>
            <c:spPr>
              <a:solidFill xmlns:a="http://schemas.openxmlformats.org/drawingml/2006/main">
                <a:srgbClr val="AAAAAA"/>
              </a:solidFill>
            </c:spPr>
          </c:dPt>
          <c:dPt>
            <c:idx val="2"/>
            <c:invertIfNegative val="0"/>
            <c:spPr>
              <a:solidFill xmlns:a="http://schemas.openxmlformats.org/drawingml/2006/main">
                <a:srgbClr val="AAAAAA"/>
              </a:solidFill>
            </c:spPr>
          </c:dPt>
          <c:cat>
            <c:strRef>
              <c:f>'Chart Data'!$A$2:$A$4</c:f>
              <c:strCache>
                <c:ptCount val="3"/>
                <c:pt idx="0">
                  <c:v>XGB_1</c:v>
                </c:pt>
                <c:pt idx="1">
                  <c:v>XGB_2</c:v>
                </c:pt>
                <c:pt idx="2">
                  <c:v>XGB_3</c:v>
                </c:pt>
              </c:strCache>
            </c:strRef>
          </c:cat>
          <c:val>
            <c:numRef>
              <c:f>'Chart Data'!$B$2:$B$4</c:f>
              <c:numCache>
                <c:formatCode>0.000</c:formatCode>
                <c:ptCount val="3"/>
                <c:pt idx="0">
                  <c:v>0.548729</c:v>
                </c:pt>
                <c:pt idx="1">
                  <c:v>0.549189</c:v>
                </c:pt>
                <c:pt idx="2">
                  <c:v>0.555302</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725">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000000"/>
            </a:solidFill>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1650">
                    <a:solidFill>
                      <a:srgbClr val="000000"/>
                    </a:solidFill>
                    <a:latin typeface="Arial"/>
                    <a:ea typeface="Arial"/>
                    <a:cs typeface="Arial"/>
                  </a:rPr>
                  <a:t>RMSE de validación 2011-2012</a:t>
                </a:r>
              </a:p>
            </c:rich>
          </c:tx>
          <c:overlay val="0"/>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LSTM_1</c:v>
          </c:tx>
          <c:spPr>
            <a:ln xmlns:a="http://schemas.openxmlformats.org/drawingml/2006/main" w="28575">
              <a:solidFill>
                <a:srgbClr val="151515"/>
              </a:solidFill>
            </a:ln>
          </c:spPr>
          <c:marker>
            <c:symbol val="circle"/>
            <c:size val="6"/>
            <c:spPr>
              <a:solidFill xmlns:a="http://schemas.openxmlformats.org/drawingml/2006/main">
                <a:srgbClr val="151515"/>
              </a:solidFill>
            </c:spPr>
          </c:marker>
          <c:cat>
            <c:numRef>
              <c:f>'Chart Data'!$A$2:$A$8</c:f>
              <c:numCache>
                <c:formatCode>General</c:formatCode>
                <c:ptCount val="7"/>
                <c:pt idx="0">
                  <c:v>1</c:v>
                </c:pt>
                <c:pt idx="1">
                  <c:v>2</c:v>
                </c:pt>
                <c:pt idx="2">
                  <c:v>3</c:v>
                </c:pt>
                <c:pt idx="3">
                  <c:v>4</c:v>
                </c:pt>
                <c:pt idx="4">
                  <c:v>5</c:v>
                </c:pt>
                <c:pt idx="5">
                  <c:v>6</c:v>
                </c:pt>
                <c:pt idx="6">
                  <c:v>7</c:v>
                </c:pt>
              </c:numCache>
            </c:numRef>
          </c:cat>
          <c:val>
            <c:numRef>
              <c:f>'Chart Data'!$B$2:$B$8</c:f>
              <c:numCache>
                <c:formatCode>0.000</c:formatCode>
                <c:ptCount val="7"/>
                <c:pt idx="0">
                  <c:v>0.568285</c:v>
                </c:pt>
                <c:pt idx="1">
                  <c:v>0.585521</c:v>
                </c:pt>
                <c:pt idx="2">
                  <c:v>0.60261</c:v>
                </c:pt>
                <c:pt idx="3">
                  <c:v>0.608276</c:v>
                </c:pt>
                <c:pt idx="4">
                  <c:v>0.618228</c:v>
                </c:pt>
                <c:pt idx="5">
                  <c:v>0.623118</c:v>
                </c:pt>
                <c:pt idx="6">
                  <c:v>0.630087</c:v>
                </c:pt>
              </c:numCache>
            </c:numRef>
          </c:val>
          <c:smooth val="0"/>
        </c:ser>
        <c:ser>
          <c:idx val="1"/>
          <c:order val="1"/>
          <c:tx>
            <c:v>LSTM_2</c:v>
          </c:tx>
          <c:spPr>
            <a:ln xmlns:a="http://schemas.openxmlformats.org/drawingml/2006/main" w="28575">
              <a:solidFill>
                <a:srgbClr val="666666"/>
              </a:solidFill>
            </a:ln>
          </c:spPr>
          <c:marker>
            <c:symbol val="square"/>
            <c:size val="6"/>
            <c:spPr>
              <a:solidFill xmlns:a="http://schemas.openxmlformats.org/drawingml/2006/main">
                <a:srgbClr val="666666"/>
              </a:solidFill>
            </c:spPr>
          </c:marker>
          <c:cat>
            <c:numRef>
              <c:f>'Chart Data'!$C$2:$C$8</c:f>
              <c:numCache>
                <c:formatCode>General</c:formatCode>
                <c:ptCount val="7"/>
                <c:pt idx="0">
                  <c:v>1</c:v>
                </c:pt>
                <c:pt idx="1">
                  <c:v>2</c:v>
                </c:pt>
                <c:pt idx="2">
                  <c:v>3</c:v>
                </c:pt>
                <c:pt idx="3">
                  <c:v>4</c:v>
                </c:pt>
                <c:pt idx="4">
                  <c:v>5</c:v>
                </c:pt>
                <c:pt idx="5">
                  <c:v>6</c:v>
                </c:pt>
                <c:pt idx="6">
                  <c:v>7</c:v>
                </c:pt>
              </c:numCache>
            </c:numRef>
          </c:cat>
          <c:val>
            <c:numRef>
              <c:f>'Chart Data'!$D$2:$D$8</c:f>
              <c:numCache>
                <c:formatCode>0.000</c:formatCode>
                <c:ptCount val="7"/>
                <c:pt idx="0">
                  <c:v>0.562127</c:v>
                </c:pt>
                <c:pt idx="1">
                  <c:v>0.580407</c:v>
                </c:pt>
                <c:pt idx="2">
                  <c:v>0.601408</c:v>
                </c:pt>
                <c:pt idx="3">
                  <c:v>0.617145</c:v>
                </c:pt>
                <c:pt idx="4">
                  <c:v>0.625206</c:v>
                </c:pt>
                <c:pt idx="5">
                  <c:v>0.646001</c:v>
                </c:pt>
                <c:pt idx="6">
                  <c:v>0.668006</c:v>
                </c:pt>
              </c:numCache>
            </c:numRef>
          </c:val>
          <c:smooth val="0"/>
        </c:ser>
        <c:ser>
          <c:idx val="2"/>
          <c:order val="2"/>
          <c:tx>
            <c:v>LSTM_3</c:v>
          </c:tx>
          <c:spPr>
            <a:ln xmlns:a="http://schemas.openxmlformats.org/drawingml/2006/main" w="28575">
              <a:solidFill>
                <a:srgbClr val="AAAAAA"/>
              </a:solidFill>
            </a:ln>
          </c:spPr>
          <c:marker>
            <c:symbol val="triangle"/>
            <c:size val="6"/>
            <c:spPr>
              <a:solidFill xmlns:a="http://schemas.openxmlformats.org/drawingml/2006/main">
                <a:srgbClr val="AAAAAA"/>
              </a:solidFill>
            </c:spPr>
          </c:marker>
          <c:cat>
            <c:numRef>
              <c:f>'Chart Data'!$E$2:$E$8</c:f>
              <c:numCache>
                <c:formatCode>General</c:formatCode>
                <c:ptCount val="7"/>
                <c:pt idx="0">
                  <c:v>1</c:v>
                </c:pt>
                <c:pt idx="1">
                  <c:v>2</c:v>
                </c:pt>
                <c:pt idx="2">
                  <c:v>3</c:v>
                </c:pt>
                <c:pt idx="3">
                  <c:v>4</c:v>
                </c:pt>
                <c:pt idx="4">
                  <c:v>5</c:v>
                </c:pt>
                <c:pt idx="5">
                  <c:v>6</c:v>
                </c:pt>
                <c:pt idx="6">
                  <c:v>7</c:v>
                </c:pt>
              </c:numCache>
            </c:numRef>
          </c:cat>
          <c:val>
            <c:numRef>
              <c:f>'Chart Data'!$F$2:$F$8</c:f>
              <c:numCache>
                <c:formatCode>0.000</c:formatCode>
                <c:ptCount val="7"/>
                <c:pt idx="0">
                  <c:v>0.561028</c:v>
                </c:pt>
                <c:pt idx="1">
                  <c:v>0.572862</c:v>
                </c:pt>
                <c:pt idx="2">
                  <c:v>0.588554</c:v>
                </c:pt>
                <c:pt idx="3">
                  <c:v>0.606195</c:v>
                </c:pt>
                <c:pt idx="4">
                  <c:v>0.618842</c:v>
                </c:pt>
                <c:pt idx="5">
                  <c:v>0.646784</c:v>
                </c:pt>
                <c:pt idx="6">
                  <c:v>0.655476</c:v>
                </c:pt>
              </c:numCache>
            </c:numRef>
          </c:val>
          <c:smooth val="0"/>
        </c:ser>
        <c:dLbls>
          <c:numFmt formatCode="0.0000" sourceLinked="0"/>
          <c:txPr>
            <a:bodyPr xmlns:a="http://schemas.openxmlformats.org/drawingml/2006/main" anchorCtr="1"/>
            <a:lstStyle xmlns:a="http://schemas.openxmlformats.org/drawingml/2006/main"/>
            <a:p xmlns:a="http://schemas.openxmlformats.org/drawingml/2006/main">
              <a:pPr>
                <a:defRPr sz="1725">
                  <a:solidFill>
                    <a:srgbClr val="000000"/>
                  </a:solidFill>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000000"/>
            </a:solidFill>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in val="0.5"/>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1650">
                    <a:solidFill>
                      <a:srgbClr val="000000"/>
                    </a:solidFill>
                    <a:latin typeface="Arial"/>
                    <a:ea typeface="Arial"/>
                    <a:cs typeface="Arial"/>
                  </a:rPr>
                  <a:t>RMSE de validación</a:t>
                </a:r>
              </a:p>
            </c:rich>
          </c:tx>
          <c:overlay val="0"/>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RMSE</c:v>
          </c:tx>
          <c:spPr>
            <a:solidFill xmlns:a="http://schemas.openxmlformats.org/drawingml/2006/main">
              <a:srgbClr val="777777"/>
            </a:solidFill>
          </c:spPr>
          <c:dPt>
            <c:idx val="0"/>
            <c:invertIfNegative val="0"/>
            <c:spPr>
              <a:solidFill xmlns:a="http://schemas.openxmlformats.org/drawingml/2006/main">
                <a:srgbClr val="151515"/>
              </a:solidFill>
            </c:spPr>
          </c:dPt>
          <c:dPt>
            <c:idx val="1"/>
            <c:invertIfNegative val="0"/>
            <c:spPr>
              <a:solidFill xmlns:a="http://schemas.openxmlformats.org/drawingml/2006/main">
                <a:srgbClr val="666666"/>
              </a:solidFill>
            </c:spPr>
          </c:dPt>
          <c:dPt>
            <c:idx val="2"/>
            <c:invertIfNegative val="0"/>
            <c:spPr>
              <a:solidFill xmlns:a="http://schemas.openxmlformats.org/drawingml/2006/main">
                <a:srgbClr val="AAAAAA"/>
              </a:solidFill>
            </c:spPr>
          </c:dPt>
          <c:dPt>
            <c:idx val="3"/>
            <c:invertIfNegative val="0"/>
            <c:spPr>
              <a:solidFill xmlns:a="http://schemas.openxmlformats.org/drawingml/2006/main">
                <a:srgbClr val="CCCCCC"/>
              </a:solidFill>
            </c:spPr>
          </c:dPt>
          <c:dPt>
            <c:idx val="4"/>
            <c:invertIfNegative val="0"/>
            <c:spPr>
              <a:solidFill xmlns:a="http://schemas.openxmlformats.org/drawingml/2006/main">
                <a:srgbClr val="EEEEEE"/>
              </a:solidFill>
            </c:spPr>
          </c:dPt>
          <c:cat>
            <c:strRef>
              <c:f>'Chart Data'!$A$2:$A$6</c:f>
              <c:strCache>
                <c:ptCount val="5"/>
                <c:pt idx="0">
                  <c:v>Random Forest</c:v>
                </c:pt>
                <c:pt idx="1">
                  <c:v>XGBoost</c:v>
                </c:pt>
                <c:pt idx="2">
                  <c:v>LSTM</c:v>
                </c:pt>
                <c:pt idx="3">
                  <c:v>Persistencia</c:v>
                </c:pt>
                <c:pt idx="4">
                  <c:v>Climatología</c:v>
                </c:pt>
              </c:strCache>
            </c:strRef>
          </c:cat>
          <c:val>
            <c:numRef>
              <c:f>'Chart Data'!$B$2:$B$6</c:f>
              <c:numCache>
                <c:formatCode>0.000</c:formatCode>
                <c:ptCount val="5"/>
                <c:pt idx="0">
                  <c:v>0.716151</c:v>
                </c:pt>
                <c:pt idx="1">
                  <c:v>0.703481</c:v>
                </c:pt>
                <c:pt idx="2">
                  <c:v>0.698856</c:v>
                </c:pt>
                <c:pt idx="3">
                  <c:v>0.848603</c:v>
                </c:pt>
                <c:pt idx="4">
                  <c:v>1.11488</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725">
                  <a:solidFill>
                    <a:srgbClr val="000000"/>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000000"/>
            </a:solidFill>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1650">
                    <a:solidFill>
                      <a:srgbClr val="000000"/>
                    </a:solidFill>
                    <a:latin typeface="Arial"/>
                    <a:ea typeface="Arial"/>
                    <a:cs typeface="Arial"/>
                  </a:rPr>
                  <a:t>RMSE fuera de muestra</a:t>
                </a:r>
              </a:p>
            </c:rich>
          </c:tx>
          <c:overlay val="0"/>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Random Forest</c:v>
          </c:tx>
          <c:spPr>
            <a:solidFill xmlns:a="http://schemas.openxmlformats.org/drawingml/2006/main">
              <a:srgbClr val="151515"/>
            </a:solidFill>
          </c:spPr>
          <c:cat>
            <c:strRef>
              <c:f>'Chart Data'!$A$2:$A$3</c:f>
              <c:strCache>
                <c:ptCount val="2"/>
                <c:pt idx="0">
                  <c:v>Observado</c:v>
                </c:pt>
                <c:pt idx="1">
                  <c:v>Oculto</c:v>
                </c:pt>
              </c:strCache>
            </c:strRef>
          </c:cat>
          <c:val>
            <c:numRef>
              <c:f>'Chart Data'!$B$2:$B$3</c:f>
              <c:numCache>
                <c:formatCode>0.000</c:formatCode>
                <c:ptCount val="2"/>
                <c:pt idx="0">
                  <c:v>0.728792</c:v>
                </c:pt>
                <c:pt idx="1">
                  <c:v>0.710768</c:v>
                </c:pt>
              </c:numCache>
            </c:numRef>
          </c:val>
        </c:ser>
        <c:ser>
          <c:idx val="1"/>
          <c:order val="1"/>
          <c:tx>
            <c:v>XGBoost</c:v>
          </c:tx>
          <c:spPr>
            <a:solidFill xmlns:a="http://schemas.openxmlformats.org/drawingml/2006/main">
              <a:srgbClr val="666666"/>
            </a:solidFill>
          </c:spPr>
          <c:cat>
            <c:strRef>
              <c:f>'Chart Data'!$C$2:$C$3</c:f>
              <c:strCache>
                <c:ptCount val="2"/>
                <c:pt idx="0">
                  <c:v>Observado</c:v>
                </c:pt>
                <c:pt idx="1">
                  <c:v>Oculto</c:v>
                </c:pt>
              </c:strCache>
            </c:strRef>
          </c:cat>
          <c:val>
            <c:numRef>
              <c:f>'Chart Data'!$D$2:$D$3</c:f>
              <c:numCache>
                <c:formatCode>0.000</c:formatCode>
                <c:ptCount val="2"/>
                <c:pt idx="0">
                  <c:v>0.717498</c:v>
                </c:pt>
                <c:pt idx="1">
                  <c:v>0.697502</c:v>
                </c:pt>
              </c:numCache>
            </c:numRef>
          </c:val>
        </c:ser>
        <c:ser>
          <c:idx val="2"/>
          <c:order val="2"/>
          <c:tx>
            <c:v>LSTM</c:v>
          </c:tx>
          <c:spPr>
            <a:solidFill xmlns:a="http://schemas.openxmlformats.org/drawingml/2006/main">
              <a:srgbClr val="AAAAAA"/>
            </a:solidFill>
          </c:spPr>
          <c:cat>
            <c:strRef>
              <c:f>'Chart Data'!$E$2:$E$3</c:f>
              <c:strCache>
                <c:ptCount val="2"/>
                <c:pt idx="0">
                  <c:v>Observado</c:v>
                </c:pt>
                <c:pt idx="1">
                  <c:v>Oculto</c:v>
                </c:pt>
              </c:strCache>
            </c:strRef>
          </c:cat>
          <c:val>
            <c:numRef>
              <c:f>'Chart Data'!$F$2:$F$3</c:f>
              <c:numCache>
                <c:formatCode>0.000</c:formatCode>
                <c:ptCount val="2"/>
                <c:pt idx="0">
                  <c:v>0.703441</c:v>
                </c:pt>
                <c:pt idx="1">
                  <c:v>0.69692</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725">
                  <a:solidFill>
                    <a:srgbClr val="000000"/>
                  </a:solidFill>
                  <a:latin typeface="Arial"/>
                  <a:ea typeface="Arial"/>
                  <a:cs typeface="Arial"/>
                </a:defRPr>
              </a:pPr>
            </a:p>
          </c:txPr>
          <c:dLblPos val="outEnd"/>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000000"/>
            </a:solidFill>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1650">
                    <a:solidFill>
                      <a:srgbClr val="000000"/>
                    </a:solidFill>
                    <a:latin typeface="Arial"/>
                    <a:ea typeface="Arial"/>
                    <a:cs typeface="Arial"/>
                  </a:rPr>
                  <a:t>RMSE por disponibilidad</a:t>
                </a:r>
              </a:p>
            </c:rich>
          </c:tx>
          <c:overlay val="0"/>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Random Forest</c:v>
          </c:tx>
          <c:spPr>
            <a:solidFill xmlns:a="http://schemas.openxmlformats.org/drawingml/2006/main">
              <a:srgbClr val="151515"/>
            </a:solidFill>
          </c:spPr>
          <c:cat>
            <c:strRef>
              <c:f>'Chart Data'!$A$2:$A$5</c:f>
              <c:strCache>
                <c:ptCount val="4"/>
                <c:pt idx="0">
                  <c:v>Norte extratrop.</c:v>
                </c:pt>
                <c:pt idx="1">
                  <c:v>Sur extratrop.</c:v>
                </c:pt>
                <c:pt idx="2">
                  <c:v>Trópico norte</c:v>
                </c:pt>
                <c:pt idx="3">
                  <c:v>Trópico sur</c:v>
                </c:pt>
              </c:strCache>
            </c:strRef>
          </c:cat>
          <c:val>
            <c:numRef>
              <c:f>'Chart Data'!$B$2:$B$5</c:f>
              <c:numCache>
                <c:formatCode>0.000</c:formatCode>
                <c:ptCount val="4"/>
                <c:pt idx="0">
                  <c:v>0.679016</c:v>
                </c:pt>
                <c:pt idx="1">
                  <c:v>0.744712</c:v>
                </c:pt>
                <c:pt idx="2">
                  <c:v>0.781075</c:v>
                </c:pt>
                <c:pt idx="3">
                  <c:v>0.761196</c:v>
                </c:pt>
              </c:numCache>
            </c:numRef>
          </c:val>
        </c:ser>
        <c:ser>
          <c:idx val="1"/>
          <c:order val="1"/>
          <c:tx>
            <c:v>XGBoost</c:v>
          </c:tx>
          <c:spPr>
            <a:solidFill xmlns:a="http://schemas.openxmlformats.org/drawingml/2006/main">
              <a:srgbClr val="666666"/>
            </a:solidFill>
          </c:spPr>
          <c:cat>
            <c:strRef>
              <c:f>'Chart Data'!$C$2:$C$5</c:f>
              <c:strCache>
                <c:ptCount val="4"/>
                <c:pt idx="0">
                  <c:v>Norte extratrop.</c:v>
                </c:pt>
                <c:pt idx="1">
                  <c:v>Sur extratrop.</c:v>
                </c:pt>
                <c:pt idx="2">
                  <c:v>Trópico norte</c:v>
                </c:pt>
                <c:pt idx="3">
                  <c:v>Trópico sur</c:v>
                </c:pt>
              </c:strCache>
            </c:strRef>
          </c:cat>
          <c:val>
            <c:numRef>
              <c:f>'Chart Data'!$D$2:$D$5</c:f>
              <c:numCache>
                <c:formatCode>0.000</c:formatCode>
                <c:ptCount val="4"/>
                <c:pt idx="0">
                  <c:v>0.668691</c:v>
                </c:pt>
                <c:pt idx="1">
                  <c:v>0.716679</c:v>
                </c:pt>
                <c:pt idx="2">
                  <c:v>0.77351</c:v>
                </c:pt>
                <c:pt idx="3">
                  <c:v>0.737316</c:v>
                </c:pt>
              </c:numCache>
            </c:numRef>
          </c:val>
        </c:ser>
        <c:ser>
          <c:idx val="2"/>
          <c:order val="2"/>
          <c:tx>
            <c:v>LSTM</c:v>
          </c:tx>
          <c:spPr>
            <a:solidFill xmlns:a="http://schemas.openxmlformats.org/drawingml/2006/main">
              <a:srgbClr val="AAAAAA"/>
            </a:solidFill>
          </c:spPr>
          <c:cat>
            <c:strRef>
              <c:f>'Chart Data'!$E$2:$E$5</c:f>
              <c:strCache>
                <c:ptCount val="4"/>
                <c:pt idx="0">
                  <c:v>Norte extratrop.</c:v>
                </c:pt>
                <c:pt idx="1">
                  <c:v>Sur extratrop.</c:v>
                </c:pt>
                <c:pt idx="2">
                  <c:v>Trópico norte</c:v>
                </c:pt>
                <c:pt idx="3">
                  <c:v>Trópico sur</c:v>
                </c:pt>
              </c:strCache>
            </c:strRef>
          </c:cat>
          <c:val>
            <c:numRef>
              <c:f>'Chart Data'!$F$2:$F$5</c:f>
              <c:numCache>
                <c:formatCode>0.000</c:formatCode>
                <c:ptCount val="4"/>
                <c:pt idx="0">
                  <c:v>0.668072</c:v>
                </c:pt>
                <c:pt idx="1">
                  <c:v>0.717262</c:v>
                </c:pt>
                <c:pt idx="2">
                  <c:v>0.761438</c:v>
                </c:pt>
                <c:pt idx="3">
                  <c:v>0.727288</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725">
                  <a:solidFill>
                    <a:srgbClr val="000000"/>
                  </a:solidFill>
                  <a:latin typeface="Arial"/>
                  <a:ea typeface="Arial"/>
                  <a:cs typeface="Arial"/>
                </a:defRPr>
              </a:pPr>
            </a:p>
          </c:txPr>
          <c:dLblPos val="outEnd"/>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000000"/>
            </a:solidFill>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DDDDD"/>
              </a:solidFill>
            </a:ln>
          </c:spPr>
        </c:majorGridlines>
        <c:title>
          <c:tx>
            <c:rich>
              <a:bodyPr xmlns:a="http://schemas.openxmlformats.org/drawingml/2006/main"/>
              <a:lstStyle xmlns:a="http://schemas.openxmlformats.org/drawingml/2006/main"/>
              <a:p xmlns:a="http://schemas.openxmlformats.org/drawingml/2006/main">
                <a:r>
                  <a:rPr sz="1650">
                    <a:solidFill>
                      <a:srgbClr val="000000"/>
                    </a:solidFill>
                    <a:latin typeface="Arial"/>
                    <a:ea typeface="Arial"/>
                    <a:cs typeface="Arial"/>
                  </a:rPr>
                  <a:t>RMSE regional</a:t>
                </a:r>
              </a:p>
            </c:rich>
          </c:tx>
          <c:overlay val="0"/>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00000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B0EE908-0F96-445D-A876-7F591D9924CC}"/>
              </a:ext>
            </a:extLst>
          </p:cNvPr>
          <p:cNvSpPr>
            <a:spLocks xmlns:a="http://schemas.openxmlformats.org/drawingml/2006/main" noGrp="1"/>
          </p:cNvSpPr>
          <p:nvPr/>
        </p:nvSpPr>
        <p:spPr>
          <a:xfrm xmlns:a="http://schemas.openxmlformats.org/drawingml/2006/main">
            <a:off x="685800" y="4286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0000"/>
                </a:solidFill>
                <a:latin typeface="Arial"/>
                <a:ea typeface="Arial"/>
                <a:cs typeface="Arial"/>
              </a:defRPr>
            </a:defPPr>
          </a:lstStyle>
          <a:p xmlns:a="http://schemas.openxmlformats.org/drawingml/2006/main">
            <a:pPr>
              <a:defRPr sz="3300" b="1">
                <a:solidFill>
                  <a:srgbClr val="000000"/>
                </a:solidFill>
                <a:latin typeface="Arial"/>
                <a:ea typeface="Arial"/>
                <a:cs typeface="Arial"/>
              </a:defRPr>
            </a:pPr>
            <a:r>
              <a:rPr sz="3300" b="1">
                <a:solidFill>
                  <a:srgbClr val="000000"/>
                </a:solidFill>
                <a:latin typeface="Arial"/>
                <a:ea typeface="Arial"/>
                <a:cs typeface="Arial"/>
              </a:rPr>
              <a:t>Pronóstico del almacenamiento total de agua</a:t>
            </a:r>
          </a:p>
        </p:txBody>
      </p:sp>
      <p:sp>
        <p:nvSpPr>
          <p:cNvPr id="2" name="">
            <a:extLst xmlns:a="http://schemas.openxmlformats.org/drawingml/2006/main">
              <a:ext uri="{FF2B5EF4-FFF2-40B4-BE49-F238E27FC236}">
                <a16:creationId xmlns:a16="http://schemas.microsoft.com/office/drawing/2014/main" id="{F1E31F67-E7A0-41FA-A09C-018187F0EAF8}"/>
              </a:ext>
            </a:extLst>
          </p:cNvPr>
          <p:cNvSpPr>
            <a:spLocks xmlns:a="http://schemas.openxmlformats.org/drawingml/2006/main" noGrp="1"/>
          </p:cNvSpPr>
          <p:nvPr/>
        </p:nvSpPr>
        <p:spPr>
          <a:xfrm xmlns:a="http://schemas.openxmlformats.org/drawingml/2006/main">
            <a:off x="685800" y="18859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0">
                <a:solidFill>
                  <a:srgbClr val="000000"/>
                </a:solidFill>
                <a:latin typeface="Arial"/>
                <a:ea typeface="Arial"/>
                <a:cs typeface="Arial"/>
              </a:defRPr>
            </a:defPPr>
          </a:lstStyle>
          <a:p xmlns:a="http://schemas.openxmlformats.org/drawingml/2006/main">
            <a:pPr>
              <a:defRPr sz="3150" b="0">
                <a:solidFill>
                  <a:srgbClr val="000000"/>
                </a:solidFill>
                <a:latin typeface="Arial"/>
                <a:ea typeface="Arial"/>
                <a:cs typeface="Arial"/>
              </a:defRPr>
            </a:pPr>
            <a:r>
              <a:rPr sz="3150" b="0">
                <a:solidFill>
                  <a:srgbClr val="000000"/>
                </a:solidFill>
                <a:latin typeface="Arial"/>
                <a:ea typeface="Arial"/>
                <a:cs typeface="Arial"/>
              </a:rPr>
              <a:t>Resultados del Proyecto 2</a:t>
            </a:r>
          </a:p>
        </p:txBody>
      </p:sp>
      <p:sp>
        <p:nvSpPr>
          <p:cNvPr id="3" name="">
            <a:extLst xmlns:a="http://schemas.openxmlformats.org/drawingml/2006/main">
              <a:ext uri="{FF2B5EF4-FFF2-40B4-BE49-F238E27FC236}">
                <a16:creationId xmlns:a16="http://schemas.microsoft.com/office/drawing/2014/main" id="{CD149263-FD60-48DA-B6F7-9364148C4D94}"/>
              </a:ext>
            </a:extLst>
          </p:cNvPr>
          <p:cNvSpPr>
            <a:spLocks xmlns:a="http://schemas.openxmlformats.org/drawingml/2006/main" noGrp="1"/>
          </p:cNvSpPr>
          <p:nvPr/>
        </p:nvSpPr>
        <p:spPr>
          <a:xfrm xmlns:a="http://schemas.openxmlformats.org/drawingml/2006/main">
            <a:off x="685800" y="27813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000000"/>
                </a:solidFill>
                <a:latin typeface="Arial"/>
                <a:ea typeface="Arial"/>
                <a:cs typeface="Arial"/>
              </a:defRPr>
            </a:defPPr>
          </a:lstStyle>
          <a:p xmlns:a="http://schemas.openxmlformats.org/drawingml/2006/main">
            <a:pPr>
              <a:defRPr sz="2400" b="0">
                <a:solidFill>
                  <a:srgbClr val="000000"/>
                </a:solidFill>
                <a:latin typeface="Arial"/>
                <a:ea typeface="Arial"/>
                <a:cs typeface="Arial"/>
              </a:defRPr>
            </a:pPr>
            <a:r>
              <a:rPr sz="2400" b="0">
                <a:solidFill>
                  <a:srgbClr val="000000"/>
                </a:solidFill>
                <a:latin typeface="Arial"/>
                <a:ea typeface="Arial"/>
                <a:cs typeface="Arial"/>
              </a:rPr>
              <a:t>Random Forest, XGBoost y LSTM</a:t>
            </a:r>
          </a:p>
        </p:txBody>
      </p:sp>
      <p:sp>
        <p:nvSpPr>
          <p:cNvPr id="4" name="">
            <a:extLst xmlns:a="http://schemas.openxmlformats.org/drawingml/2006/main">
              <a:ext uri="{FF2B5EF4-FFF2-40B4-BE49-F238E27FC236}">
                <a16:creationId xmlns:a16="http://schemas.microsoft.com/office/drawing/2014/main" id="{4EB4FCEF-530F-4B71-A512-FA9CC2A95F66}"/>
              </a:ext>
            </a:extLst>
          </p:cNvPr>
          <p:cNvSpPr>
            <a:spLocks xmlns:a="http://schemas.openxmlformats.org/drawingml/2006/main" noGrp="1"/>
          </p:cNvSpPr>
          <p:nvPr/>
        </p:nvSpPr>
        <p:spPr>
          <a:xfrm xmlns:a="http://schemas.openxmlformats.org/drawingml/2006/main">
            <a:off x="685800" y="3810000"/>
            <a:ext cx="9525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000000"/>
                </a:solidFill>
                <a:latin typeface="Arial"/>
                <a:ea typeface="Arial"/>
                <a:cs typeface="Arial"/>
              </a:defRPr>
            </a:defPPr>
          </a:lstStyle>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Javier Valladares 23045</a:t>
            </a:r>
          </a:p>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Ian Cumes 23236</a:t>
            </a:r>
          </a:p>
          <a:p xmlns:a="http://schemas.openxmlformats.org/drawingml/2006/main">
            <a:pPr>
              <a:defRPr sz="2025" b="0">
                <a:solidFill>
                  <a:srgbClr val="000000"/>
                </a:solidFill>
                <a:latin typeface="Arial"/>
                <a:ea typeface="Arial"/>
                <a:cs typeface="Arial"/>
              </a:defRPr>
            </a:pPr>
            <a:r>
              <a:rPr sz="2025" b="0">
                <a:solidFill>
                  <a:srgbClr val="000000"/>
                </a:solidFill>
                <a:latin typeface="Arial"/>
                <a:ea typeface="Arial"/>
                <a:cs typeface="Arial"/>
              </a:rPr>
              <a:t>Javier Cifuentes 23079</a:t>
            </a:r>
          </a:p>
        </p:txBody>
      </p:sp>
      <p:sp>
        <p:nvSpPr>
          <p:cNvPr id="5" name="">
            <a:extLst xmlns:a="http://schemas.openxmlformats.org/drawingml/2006/main">
              <a:ext uri="{FF2B5EF4-FFF2-40B4-BE49-F238E27FC236}">
                <a16:creationId xmlns:a16="http://schemas.microsoft.com/office/drawing/2014/main" id="{F516D568-BECF-44B5-8DE0-B9A2A7B5AD85}"/>
              </a:ext>
            </a:extLst>
          </p:cNvPr>
          <p:cNvSpPr>
            <a:spLocks xmlns:a="http://schemas.openxmlformats.org/drawingml/2006/main" noGrp="1"/>
          </p:cNvSpPr>
          <p:nvPr/>
        </p:nvSpPr>
        <p:spPr>
          <a:xfrm xmlns:a="http://schemas.openxmlformats.org/drawingml/2006/main">
            <a:off x="685800" y="56388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000000"/>
                </a:solidFill>
                <a:latin typeface="Arial"/>
                <a:ea typeface="Arial"/>
                <a:cs typeface="Arial"/>
              </a:defRPr>
            </a:defPPr>
          </a:lstStyle>
          <a:p xmlns:a="http://schemas.openxmlformats.org/drawingml/2006/main">
            <a:pPr>
              <a:defRPr sz="1725" b="0">
                <a:solidFill>
                  <a:srgbClr val="000000"/>
                </a:solidFill>
                <a:latin typeface="Arial"/>
                <a:ea typeface="Arial"/>
                <a:cs typeface="Arial"/>
              </a:defRPr>
            </a:pPr>
            <a:r>
              <a:rPr sz="1725" b="0">
                <a:solidFill>
                  <a:srgbClr val="000000"/>
                </a:solidFill>
                <a:latin typeface="Arial"/>
                <a:ea typeface="Arial"/>
                <a:cs typeface="Arial"/>
              </a:rPr>
              <a:t>CC3084 Data Science   Universidad del Valle de Guatemala</a:t>
            </a:r>
          </a:p>
          <a:p xmlns:a="http://schemas.openxmlformats.org/drawingml/2006/main">
            <a:pPr>
              <a:defRPr sz="1725" b="0">
                <a:solidFill>
                  <a:srgbClr val="000000"/>
                </a:solidFill>
                <a:latin typeface="Arial"/>
                <a:ea typeface="Arial"/>
                <a:cs typeface="Arial"/>
              </a:defRPr>
            </a:pPr>
            <a:r>
              <a:rPr sz="1725" b="0">
                <a:solidFill>
                  <a:srgbClr val="000000"/>
                </a:solidFill>
                <a:latin typeface="Arial"/>
                <a:ea typeface="Arial"/>
                <a:cs typeface="Arial"/>
              </a:rPr>
              <a:t>Semestre II de 2026   13 de octubre de 2026</a:t>
            </a:r>
          </a:p>
        </p:txBody>
      </p:sp>
    </p:spTree>
    <p:extLst>
      <p:ext uri="{BB962C8B-B14F-4D97-AF65-F5344CB8AC3E}">
        <p14:creationId xmlns:p14="http://schemas.microsoft.com/office/powerpoint/2010/main" val="108422714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AF6CF90-FE7E-4A94-AA2A-89654B75B6AC}"/>
              </a:ext>
            </a:extLst>
          </p:cNvPr>
          <p:cNvSpPr>
            <a:spLocks xmlns:a="http://schemas.openxmlformats.org/drawingml/2006/main" noGrp="1"/>
          </p:cNvSpPr>
          <p:nvPr/>
        </p:nvSpPr>
        <p:spPr>
          <a:xfrm xmlns:a="http://schemas.openxmlformats.org/drawingml/2006/main">
            <a:off x="685800" y="4286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0000"/>
                </a:solidFill>
                <a:latin typeface="Arial"/>
                <a:ea typeface="Arial"/>
                <a:cs typeface="Arial"/>
              </a:defRPr>
            </a:defPPr>
          </a:lstStyle>
          <a:p xmlns:a="http://schemas.openxmlformats.org/drawingml/2006/main">
            <a:pPr>
              <a:defRPr sz="3300" b="1">
                <a:solidFill>
                  <a:srgbClr val="000000"/>
                </a:solidFill>
                <a:latin typeface="Arial"/>
                <a:ea typeface="Arial"/>
                <a:cs typeface="Arial"/>
              </a:defRPr>
            </a:pPr>
            <a:r>
              <a:rPr sz="3300" b="1">
                <a:solidFill>
                  <a:srgbClr val="000000"/>
                </a:solidFill>
                <a:latin typeface="Arial"/>
                <a:ea typeface="Arial"/>
                <a:cs typeface="Arial"/>
              </a:rPr>
              <a:t>El problema y la información disponible</a:t>
            </a:r>
          </a:p>
        </p:txBody>
      </p:sp>
      <p:sp>
        <p:nvSpPr>
          <p:cNvPr id="2" name="">
            <a:extLst xmlns:a="http://schemas.openxmlformats.org/drawingml/2006/main">
              <a:ext uri="{FF2B5EF4-FFF2-40B4-BE49-F238E27FC236}">
                <a16:creationId xmlns:a16="http://schemas.microsoft.com/office/drawing/2014/main" id="{B2612363-8705-43C5-9863-2BC37EA40EE8}"/>
              </a:ext>
            </a:extLst>
          </p:cNvPr>
          <p:cNvSpPr>
            <a:spLocks xmlns:a="http://schemas.openxmlformats.org/drawingml/2006/main" noGrp="1"/>
          </p:cNvSpPr>
          <p:nvPr/>
        </p:nvSpPr>
        <p:spPr>
          <a:xfrm xmlns:a="http://schemas.openxmlformats.org/drawingml/2006/main">
            <a:off x="685800" y="1619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000000"/>
                </a:solidFill>
                <a:latin typeface="Arial"/>
                <a:ea typeface="Arial"/>
                <a:cs typeface="Arial"/>
              </a:defRPr>
            </a:defPPr>
          </a:lstStyle>
          <a:p xmlns:a="http://schemas.openxmlformats.org/drawingml/2006/main">
            <a:pPr>
              <a:defRPr sz="2175" b="0">
                <a:solidFill>
                  <a:srgbClr val="000000"/>
                </a:solidFill>
                <a:latin typeface="Arial"/>
                <a:ea typeface="Arial"/>
                <a:cs typeface="Arial"/>
              </a:defRPr>
            </a:pPr>
            <a:r>
              <a:rPr sz="2175" b="0">
                <a:solidFill>
                  <a:srgbClr val="000000"/>
                </a:solidFill>
                <a:latin typeface="Arial"/>
                <a:ea typeface="Arial"/>
                <a:cs typeface="Arial"/>
              </a:rPr>
              <a:t>Pronosticar el TWS del siguiente mes calendario con información conocida hasta la emisión.</a:t>
            </a:r>
          </a:p>
        </p:txBody>
      </p:sp>
      <p:sp>
        <p:nvSpPr>
          <p:cNvPr id="3" name="">
            <a:extLst xmlns:a="http://schemas.openxmlformats.org/drawingml/2006/main">
              <a:ext uri="{FF2B5EF4-FFF2-40B4-BE49-F238E27FC236}">
                <a16:creationId xmlns:a16="http://schemas.microsoft.com/office/drawing/2014/main" id="{2DC328BA-66E5-4DE9-A33A-950EA29DDD94}"/>
              </a:ext>
            </a:extLst>
          </p:cNvPr>
          <p:cNvSpPr>
            <a:spLocks xmlns:a="http://schemas.openxmlformats.org/drawingml/2006/main" noGrp="1"/>
          </p:cNvSpPr>
          <p:nvPr/>
        </p:nvSpPr>
        <p:spPr>
          <a:xfrm xmlns:a="http://schemas.openxmlformats.org/drawingml/2006/main">
            <a:off x="685800" y="26479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000000"/>
                </a:solidFill>
                <a:latin typeface="Arial"/>
                <a:ea typeface="Arial"/>
                <a:cs typeface="Arial"/>
              </a:defRPr>
            </a:defPPr>
          </a:lstStyle>
          <a:p xmlns:a="http://schemas.openxmlformats.org/drawingml/2006/main">
            <a:pPr>
              <a:defRPr sz="2175" b="0">
                <a:solidFill>
                  <a:srgbClr val="000000"/>
                </a:solidFill>
                <a:latin typeface="Arial"/>
                <a:ea typeface="Arial"/>
                <a:cs typeface="Arial"/>
              </a:defRPr>
            </a:pPr>
            <a:r>
              <a:rPr sz="2175" b="0">
                <a:solidFill>
                  <a:srgbClr val="000000"/>
                </a:solidFill>
                <a:latin typeface="Arial"/>
                <a:ea typeface="Arial"/>
                <a:cs typeface="Arial"/>
              </a:rPr>
              <a:t>TWS integra reservas superficiales y subterráneas. Los productos GRACE llegan con retraso.</a:t>
            </a:r>
          </a:p>
        </p:txBody>
      </p:sp>
      <p:sp>
        <p:nvSpPr>
          <p:cNvPr id="4" name="">
            <a:extLst xmlns:a="http://schemas.openxmlformats.org/drawingml/2006/main">
              <a:ext uri="{FF2B5EF4-FFF2-40B4-BE49-F238E27FC236}">
                <a16:creationId xmlns:a16="http://schemas.microsoft.com/office/drawing/2014/main" id="{A7264A42-C1FD-47C2-90F5-7387C0B10CC9}"/>
              </a:ext>
            </a:extLst>
          </p:cNvPr>
          <p:cNvSpPr>
            <a:spLocks xmlns:a="http://schemas.openxmlformats.org/drawingml/2006/main" noGrp="1"/>
          </p:cNvSpPr>
          <p:nvPr/>
        </p:nvSpPr>
        <p:spPr>
          <a:xfrm xmlns:a="http://schemas.openxmlformats.org/drawingml/2006/main">
            <a:off x="685800" y="36766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000000"/>
                </a:solidFill>
                <a:latin typeface="Arial"/>
                <a:ea typeface="Arial"/>
                <a:cs typeface="Arial"/>
              </a:defRPr>
            </a:defPPr>
          </a:lstStyle>
          <a:p xmlns:a="http://schemas.openxmlformats.org/drawingml/2006/main">
            <a:pPr>
              <a:defRPr sz="2175" b="0">
                <a:solidFill>
                  <a:srgbClr val="000000"/>
                </a:solidFill>
                <a:latin typeface="Arial"/>
                <a:ea typeface="Arial"/>
                <a:cs typeface="Arial"/>
              </a:defRPr>
            </a:pPr>
            <a:r>
              <a:rPr sz="2175" b="0">
                <a:solidFill>
                  <a:srgbClr val="000000"/>
                </a:solidFill>
                <a:latin typeface="Arial"/>
                <a:ea typeface="Arial"/>
                <a:cs typeface="Arial"/>
              </a:rPr>
              <a:t>El 66.5 % del TWS actual está oculto en Test. El horizonte efectivo desde la última observación puede llegar a siete meses.</a:t>
            </a:r>
          </a:p>
        </p:txBody>
      </p:sp>
      <p:sp>
        <p:nvSpPr>
          <p:cNvPr id="5" name="">
            <a:extLst xmlns:a="http://schemas.openxmlformats.org/drawingml/2006/main">
              <a:ext uri="{FF2B5EF4-FFF2-40B4-BE49-F238E27FC236}">
                <a16:creationId xmlns:a16="http://schemas.microsoft.com/office/drawing/2014/main" id="{F527C6B3-83B1-4096-9727-897BBF0221E0}"/>
              </a:ext>
            </a:extLst>
          </p:cNvPr>
          <p:cNvSpPr>
            <a:spLocks xmlns:a="http://schemas.openxmlformats.org/drawingml/2006/main" noGrp="1"/>
          </p:cNvSpPr>
          <p:nvPr/>
        </p:nvSpPr>
        <p:spPr>
          <a:xfrm xmlns:a="http://schemas.openxmlformats.org/drawingml/2006/main">
            <a:off x="685800" y="4705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000000"/>
                </a:solidFill>
                <a:latin typeface="Arial"/>
                <a:ea typeface="Arial"/>
                <a:cs typeface="Arial"/>
              </a:defRPr>
            </a:defPPr>
          </a:lstStyle>
          <a:p xmlns:a="http://schemas.openxmlformats.org/drawingml/2006/main">
            <a:pPr>
              <a:defRPr sz="2175" b="0">
                <a:solidFill>
                  <a:srgbClr val="000000"/>
                </a:solidFill>
                <a:latin typeface="Arial"/>
                <a:ea typeface="Arial"/>
                <a:cs typeface="Arial"/>
              </a:defRPr>
            </a:pPr>
            <a:r>
              <a:rPr sz="2175" b="0">
                <a:solidFill>
                  <a:srgbClr val="000000"/>
                </a:solidFill>
                <a:latin typeface="Arial"/>
                <a:ea typeface="Arial"/>
                <a:cs typeface="Arial"/>
              </a:rPr>
              <a:t>La tarea es regresión y se evalúa mediante RMSE en la escala estandarizada del reto.</a:t>
            </a:r>
          </a:p>
        </p:txBody>
      </p:sp>
    </p:spTree>
    <p:extLst>
      <p:ext uri="{BB962C8B-B14F-4D97-AF65-F5344CB8AC3E}">
        <p14:creationId xmlns:p14="http://schemas.microsoft.com/office/powerpoint/2010/main" val="35365341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37C1BA9-6B40-4A42-BDDD-03E8582D32D0}"/>
              </a:ext>
            </a:extLst>
          </p:cNvPr>
          <p:cNvSpPr>
            <a:spLocks xmlns:a="http://schemas.openxmlformats.org/drawingml/2006/main" noGrp="1"/>
          </p:cNvSpPr>
          <p:nvPr/>
        </p:nvSpPr>
        <p:spPr>
          <a:xfrm xmlns:a="http://schemas.openxmlformats.org/drawingml/2006/main">
            <a:off x="685800" y="4286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0000"/>
                </a:solidFill>
                <a:latin typeface="Arial"/>
                <a:ea typeface="Arial"/>
                <a:cs typeface="Arial"/>
              </a:defRPr>
            </a:defPPr>
          </a:lstStyle>
          <a:p xmlns:a="http://schemas.openxmlformats.org/drawingml/2006/main">
            <a:pPr>
              <a:defRPr sz="3300" b="1">
                <a:solidFill>
                  <a:srgbClr val="000000"/>
                </a:solidFill>
                <a:latin typeface="Arial"/>
                <a:ea typeface="Arial"/>
                <a:cs typeface="Arial"/>
              </a:defRPr>
            </a:pPr>
            <a:r>
              <a:rPr sz="3300" b="1">
                <a:solidFill>
                  <a:srgbClr val="000000"/>
                </a:solidFill>
                <a:latin typeface="Arial"/>
                <a:ea typeface="Arial"/>
                <a:cs typeface="Arial"/>
              </a:rPr>
              <a:t>Datos y hallazgos exploratorios</a:t>
            </a:r>
          </a:p>
        </p:txBody>
      </p:sp>
      <p:graphicFrame>
        <p:nvGraphicFramePr>
          <p:cNvPr id="2" name="">
            <a:extLst xmlns:a="http://schemas.openxmlformats.org/drawingml/2006/main">
              <a:ext uri="{FF2B5EF4-FFF2-40B4-BE49-F238E27FC236}">
                <a16:creationId xmlns:a16="http://schemas.microsoft.com/office/drawing/2014/main" id="{FD151484-8042-4E4D-B15D-8B5A8D7EC637}"/>
              </a:ext>
            </a:extLst>
          </p:cNvPr>
          <p:cNvGraphicFramePr/>
          <p:nvPr/>
        </p:nvGraphicFramePr>
        <p:xfrm>
          <a:off xmlns:a="http://schemas.openxmlformats.org/drawingml/2006/main" x="685800" y="1571625"/>
          <a:ext xmlns:a="http://schemas.openxmlformats.org/drawingml/2006/main" cx="10820400" cy="3333750"/>
        </p:xfrm>
        <a:graphic xmlns:a="http://schemas.openxmlformats.org/drawingml/2006/main">
          <a:graphicData uri="http://schemas.openxmlformats.org/drawingml/2006/table">
            <a:tbl>
              <a:tblPr/>
              <a:tblGrid>
                <a:gridCol w="3810000"/>
                <a:gridCol w="3505200"/>
                <a:gridCol w="3505200"/>
              </a:tblGrid>
              <a:tr h="666750">
                <a:tc>
                  <a:txBody>
                    <a:bodyPr/>
                    <a:lstStyle/>
                    <a:p>
                      <a:r>
                        <a:rPr sz="1800" b="1">
                          <a:solidFill>
                            <a:srgbClr val="000000"/>
                          </a:solidFill>
                          <a:latin typeface="Arial"/>
                          <a:ea typeface="Arial"/>
                          <a:cs typeface="Arial"/>
                        </a:rPr>
                        <a:t>Característica</a:t>
                      </a:r>
                    </a:p>
                  </a:txBody>
                  <a:tcPr marL="114300" marR="114300" marT="95250" marB="95250" anchor="ctr">
                    <a:solidFill>
                      <a:srgbClr val="FFFFFF"/>
                    </a:solidFill>
                  </a:tcPr>
                </a:tc>
                <a:tc>
                  <a:txBody>
                    <a:bodyPr/>
                    <a:lstStyle/>
                    <a:p>
                      <a:r>
                        <a:rPr sz="1800" b="1">
                          <a:solidFill>
                            <a:srgbClr val="000000"/>
                          </a:solidFill>
                          <a:latin typeface="Arial"/>
                          <a:ea typeface="Arial"/>
                          <a:cs typeface="Arial"/>
                        </a:rPr>
                        <a:t>Entrenamiento</a:t>
                      </a:r>
                    </a:p>
                  </a:txBody>
                  <a:tcPr marL="114300" marR="114300" marT="95250" marB="95250" anchor="ctr">
                    <a:solidFill>
                      <a:srgbClr val="FFFFFF"/>
                    </a:solidFill>
                  </a:tcPr>
                </a:tc>
                <a:tc>
                  <a:txBody>
                    <a:bodyPr/>
                    <a:lstStyle/>
                    <a:p>
                      <a:r>
                        <a:rPr sz="1800" b="1">
                          <a:solidFill>
                            <a:srgbClr val="000000"/>
                          </a:solidFill>
                          <a:latin typeface="Arial"/>
                          <a:ea typeface="Arial"/>
                          <a:cs typeface="Arial"/>
                        </a:rPr>
                        <a:t>Test</a:t>
                      </a:r>
                    </a:p>
                  </a:txBody>
                  <a:tcPr marL="114300" marR="114300" marT="95250" marB="95250" anchor="ctr">
                    <a:solidFill>
                      <a:srgbClr val="FFFFFF"/>
                    </a:solidFill>
                  </a:tcPr>
                </a:tc>
              </a:tr>
              <a:tr h="666750">
                <a:tc>
                  <a:txBody>
                    <a:bodyPr/>
                    <a:lstStyle/>
                    <a:p>
                      <a:r>
                        <a:rPr sz="1800">
                          <a:solidFill>
                            <a:srgbClr val="000000"/>
                          </a:solidFill>
                          <a:latin typeface="Arial"/>
                          <a:ea typeface="Arial"/>
                          <a:cs typeface="Arial"/>
                        </a:rPr>
                        <a:t>Observaciones</a:t>
                      </a:r>
                    </a:p>
                  </a:txBody>
                  <a:tcPr marL="114300" marR="114300" marT="95250" marB="95250" anchor="ctr">
                    <a:solidFill>
                      <a:srgbClr val="FFFFFF"/>
                    </a:solidFill>
                  </a:tcPr>
                </a:tc>
                <a:tc>
                  <a:txBody>
                    <a:bodyPr/>
                    <a:lstStyle/>
                    <a:p>
                      <a:r>
                        <a:rPr sz="1800">
                          <a:solidFill>
                            <a:srgbClr val="000000"/>
                          </a:solidFill>
                          <a:latin typeface="Arial"/>
                          <a:ea typeface="Arial"/>
                          <a:cs typeface="Arial"/>
                        </a:rPr>
                        <a:t>2,154,021</a:t>
                      </a:r>
                    </a:p>
                  </a:txBody>
                  <a:tcPr marL="114300" marR="114300" marT="95250" marB="95250" anchor="ctr">
                    <a:solidFill>
                      <a:srgbClr val="FFFFFF"/>
                    </a:solidFill>
                  </a:tcPr>
                </a:tc>
                <a:tc>
                  <a:txBody>
                    <a:bodyPr/>
                    <a:lstStyle/>
                    <a:p>
                      <a:r>
                        <a:rPr sz="1800">
                          <a:solidFill>
                            <a:srgbClr val="000000"/>
                          </a:solidFill>
                          <a:latin typeface="Arial"/>
                          <a:ea typeface="Arial"/>
                          <a:cs typeface="Arial"/>
                        </a:rPr>
                        <a:t>280,961</a:t>
                      </a:r>
                    </a:p>
                  </a:txBody>
                  <a:tcPr marL="114300" marR="114300" marT="95250" marB="95250" anchor="ctr">
                    <a:solidFill>
                      <a:srgbClr val="FFFFFF"/>
                    </a:solidFill>
                  </a:tcPr>
                </a:tc>
              </a:tr>
              <a:tr h="666750">
                <a:tc>
                  <a:txBody>
                    <a:bodyPr/>
                    <a:lstStyle/>
                    <a:p>
                      <a:r>
                        <a:rPr sz="1800">
                          <a:solidFill>
                            <a:srgbClr val="000000"/>
                          </a:solidFill>
                          <a:latin typeface="Arial"/>
                          <a:ea typeface="Arial"/>
                          <a:cs typeface="Arial"/>
                        </a:rPr>
                        <a:t>Meses observados</a:t>
                      </a:r>
                    </a:p>
                  </a:txBody>
                  <a:tcPr marL="114300" marR="114300" marT="95250" marB="95250" anchor="ctr">
                    <a:solidFill>
                      <a:srgbClr val="FFFFFF"/>
                    </a:solidFill>
                  </a:tcPr>
                </a:tc>
                <a:tc>
                  <a:txBody>
                    <a:bodyPr/>
                    <a:lstStyle/>
                    <a:p>
                      <a:r>
                        <a:rPr sz="1800">
                          <a:solidFill>
                            <a:srgbClr val="000000"/>
                          </a:solidFill>
                          <a:latin typeface="Arial"/>
                          <a:ea typeface="Arial"/>
                          <a:cs typeface="Arial"/>
                        </a:rPr>
                        <a:t>138</a:t>
                      </a:r>
                    </a:p>
                  </a:txBody>
                  <a:tcPr marL="114300" marR="114300" marT="95250" marB="95250" anchor="ctr">
                    <a:solidFill>
                      <a:srgbClr val="FFFFFF"/>
                    </a:solidFill>
                  </a:tcPr>
                </a:tc>
                <a:tc>
                  <a:txBody>
                    <a:bodyPr/>
                    <a:lstStyle/>
                    <a:p>
                      <a:r>
                        <a:rPr sz="1800">
                          <a:solidFill>
                            <a:srgbClr val="000000"/>
                          </a:solidFill>
                          <a:latin typeface="Arial"/>
                          <a:ea typeface="Arial"/>
                          <a:cs typeface="Arial"/>
                        </a:rPr>
                        <a:t>18</a:t>
                      </a:r>
                    </a:p>
                  </a:txBody>
                  <a:tcPr marL="114300" marR="114300" marT="95250" marB="95250" anchor="ctr">
                    <a:solidFill>
                      <a:srgbClr val="FFFFFF"/>
                    </a:solidFill>
                  </a:tcPr>
                </a:tc>
              </a:tr>
              <a:tr h="666750">
                <a:tc>
                  <a:txBody>
                    <a:bodyPr/>
                    <a:lstStyle/>
                    <a:p>
                      <a:r>
                        <a:rPr sz="1800">
                          <a:solidFill>
                            <a:srgbClr val="000000"/>
                          </a:solidFill>
                          <a:latin typeface="Arial"/>
                          <a:ea typeface="Arial"/>
                          <a:cs typeface="Arial"/>
                        </a:rPr>
                        <a:t>Periodo de entrada</a:t>
                      </a:r>
                    </a:p>
                  </a:txBody>
                  <a:tcPr marL="114300" marR="114300" marT="95250" marB="95250" anchor="ctr">
                    <a:solidFill>
                      <a:srgbClr val="FFFFFF"/>
                    </a:solidFill>
                  </a:tcPr>
                </a:tc>
                <a:tc>
                  <a:txBody>
                    <a:bodyPr/>
                    <a:lstStyle/>
                    <a:p>
                      <a:r>
                        <a:rPr sz="1800">
                          <a:solidFill>
                            <a:srgbClr val="000000"/>
                          </a:solidFill>
                          <a:latin typeface="Arial"/>
                          <a:ea typeface="Arial"/>
                          <a:cs typeface="Arial"/>
                        </a:rPr>
                        <a:t>2002-05 a 2015-08</a:t>
                      </a:r>
                    </a:p>
                  </a:txBody>
                  <a:tcPr marL="114300" marR="114300" marT="95250" marB="95250" anchor="ctr">
                    <a:solidFill>
                      <a:srgbClr val="FFFFFF"/>
                    </a:solidFill>
                  </a:tcPr>
                </a:tc>
                <a:tc>
                  <a:txBody>
                    <a:bodyPr/>
                    <a:lstStyle/>
                    <a:p>
                      <a:r>
                        <a:rPr sz="1800">
                          <a:solidFill>
                            <a:srgbClr val="000000"/>
                          </a:solidFill>
                          <a:latin typeface="Arial"/>
                          <a:ea typeface="Arial"/>
                          <a:cs typeface="Arial"/>
                        </a:rPr>
                        <a:t>2015-09 a 2018-12</a:t>
                      </a:r>
                    </a:p>
                  </a:txBody>
                  <a:tcPr marL="114300" marR="114300" marT="95250" marB="95250" anchor="ctr">
                    <a:solidFill>
                      <a:srgbClr val="FFFFFF"/>
                    </a:solidFill>
                  </a:tcPr>
                </a:tc>
              </a:tr>
              <a:tr h="666750">
                <a:tc>
                  <a:txBody>
                    <a:bodyPr/>
                    <a:lstStyle/>
                    <a:p>
                      <a:r>
                        <a:rPr sz="1800">
                          <a:solidFill>
                            <a:srgbClr val="000000"/>
                          </a:solidFill>
                          <a:latin typeface="Arial"/>
                          <a:ea typeface="Arial"/>
                          <a:cs typeface="Arial"/>
                        </a:rPr>
                        <a:t>Etiquetas</a:t>
                      </a:r>
                    </a:p>
                  </a:txBody>
                  <a:tcPr marL="114300" marR="114300" marT="95250" marB="95250" anchor="ctr">
                    <a:solidFill>
                      <a:srgbClr val="FFFFFF"/>
                    </a:solidFill>
                  </a:tcPr>
                </a:tc>
                <a:tc>
                  <a:txBody>
                    <a:bodyPr/>
                    <a:lstStyle/>
                    <a:p>
                      <a:r>
                        <a:rPr sz="1800">
                          <a:solidFill>
                            <a:srgbClr val="000000"/>
                          </a:solidFill>
                          <a:latin typeface="Arial"/>
                          <a:ea typeface="Arial"/>
                          <a:cs typeface="Arial"/>
                        </a:rPr>
                        <a:t>Disponibles</a:t>
                      </a:r>
                    </a:p>
                  </a:txBody>
                  <a:tcPr marL="114300" marR="114300" marT="95250" marB="95250" anchor="ctr">
                    <a:solidFill>
                      <a:srgbClr val="FFFFFF"/>
                    </a:solidFill>
                  </a:tcPr>
                </a:tc>
                <a:tc>
                  <a:txBody>
                    <a:bodyPr/>
                    <a:lstStyle/>
                    <a:p>
                      <a:r>
                        <a:rPr sz="1800">
                          <a:solidFill>
                            <a:srgbClr val="000000"/>
                          </a:solidFill>
                          <a:latin typeface="Arial"/>
                          <a:ea typeface="Arial"/>
                          <a:cs typeface="Arial"/>
                        </a:rPr>
                        <a:t>No disponibles</a:t>
                      </a:r>
                    </a:p>
                  </a:txBody>
                  <a:tcPr marL="114300" marR="114300" marT="95250" marB="952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74189442-10A7-4B37-9240-8F4AA0CCD919}"/>
              </a:ext>
            </a:extLst>
          </p:cNvPr>
          <p:cNvSpPr>
            <a:spLocks xmlns:a="http://schemas.openxmlformats.org/drawingml/2006/main" noGrp="1"/>
          </p:cNvSpPr>
          <p:nvPr/>
        </p:nvSpPr>
        <p:spPr>
          <a:xfrm xmlns:a="http://schemas.openxmlformats.org/drawingml/2006/main">
            <a:off x="685800" y="585787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000000"/>
                </a:solidFill>
                <a:latin typeface="Arial"/>
                <a:ea typeface="Arial"/>
                <a:cs typeface="Arial"/>
              </a:defRPr>
            </a:defPPr>
          </a:lstStyle>
          <a:p xmlns:a="http://schemas.openxmlformats.org/drawingml/2006/main">
            <a:pPr>
              <a:defRPr sz="1725" b="0">
                <a:solidFill>
                  <a:srgbClr val="000000"/>
                </a:solidFill>
                <a:latin typeface="Arial"/>
                <a:ea typeface="Arial"/>
                <a:cs typeface="Arial"/>
              </a:defRPr>
            </a:pPr>
            <a:r>
              <a:rPr sz="1725" b="0">
                <a:solidFill>
                  <a:srgbClr val="000000"/>
                </a:solidFill>
                <a:latin typeface="Arial"/>
                <a:ea typeface="Arial"/>
                <a:cs typeface="Arial"/>
              </a:rPr>
              <a:t>15,715 celdas de 1°. Faltan 22 meses del calendario de Train y el 80.3 % de las filas pertenece al hemisferio norte.</a:t>
            </a:r>
          </a:p>
        </p:txBody>
      </p:sp>
    </p:spTree>
    <p:extLst>
      <p:ext uri="{BB962C8B-B14F-4D97-AF65-F5344CB8AC3E}">
        <p14:creationId xmlns:p14="http://schemas.microsoft.com/office/powerpoint/2010/main" val="77951819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230F8C7-0E74-4B5E-824A-507CA4F4588C}"/>
              </a:ext>
            </a:extLst>
          </p:cNvPr>
          <p:cNvSpPr>
            <a:spLocks xmlns:a="http://schemas.openxmlformats.org/drawingml/2006/main" noGrp="1"/>
          </p:cNvSpPr>
          <p:nvPr/>
        </p:nvSpPr>
        <p:spPr>
          <a:xfrm xmlns:a="http://schemas.openxmlformats.org/drawingml/2006/main">
            <a:off x="685800" y="4286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0000"/>
                </a:solidFill>
                <a:latin typeface="Arial"/>
                <a:ea typeface="Arial"/>
                <a:cs typeface="Arial"/>
              </a:defRPr>
            </a:defPPr>
          </a:lstStyle>
          <a:p xmlns:a="http://schemas.openxmlformats.org/drawingml/2006/main">
            <a:pPr>
              <a:defRPr sz="3300" b="1">
                <a:solidFill>
                  <a:srgbClr val="000000"/>
                </a:solidFill>
                <a:latin typeface="Arial"/>
                <a:ea typeface="Arial"/>
                <a:cs typeface="Arial"/>
              </a:defRPr>
            </a:pPr>
            <a:r>
              <a:rPr sz="3300" b="1">
                <a:solidFill>
                  <a:srgbClr val="000000"/>
                </a:solidFill>
                <a:latin typeface="Arial"/>
                <a:ea typeface="Arial"/>
                <a:cs typeface="Arial"/>
              </a:rPr>
              <a:t>Comparación temporal antes de la prueba final</a:t>
            </a:r>
          </a:p>
        </p:txBody>
      </p:sp>
      <p:graphicFrame>
        <p:nvGraphicFramePr>
          <p:cNvPr id="2" name="">
            <a:extLst xmlns:a="http://schemas.openxmlformats.org/drawingml/2006/main">
              <a:ext uri="{FF2B5EF4-FFF2-40B4-BE49-F238E27FC236}">
                <a16:creationId xmlns:a16="http://schemas.microsoft.com/office/drawing/2014/main" id="{FDE9CD76-221D-4691-A912-BD5BBB0C77ED}"/>
              </a:ext>
            </a:extLst>
          </p:cNvPr>
          <p:cNvGraphicFramePr/>
          <p:nvPr/>
        </p:nvGraphicFramePr>
        <p:xfrm>
          <a:off xmlns:a="http://schemas.openxmlformats.org/drawingml/2006/main" x="685800" y="1571625"/>
          <a:ext xmlns:a="http://schemas.openxmlformats.org/drawingml/2006/main" cx="10820400" cy="3333750"/>
        </p:xfrm>
        <a:graphic xmlns:a="http://schemas.openxmlformats.org/drawingml/2006/main">
          <a:graphicData uri="http://schemas.openxmlformats.org/drawingml/2006/table">
            <a:tbl>
              <a:tblPr/>
              <a:tblGrid>
                <a:gridCol w="2667000"/>
                <a:gridCol w="2667000"/>
                <a:gridCol w="3143250"/>
                <a:gridCol w="2343150"/>
              </a:tblGrid>
              <a:tr h="833438">
                <a:tc>
                  <a:txBody>
                    <a:bodyPr/>
                    <a:lstStyle/>
                    <a:p>
                      <a:r>
                        <a:rPr sz="1800" b="1">
                          <a:solidFill>
                            <a:srgbClr val="000000"/>
                          </a:solidFill>
                          <a:latin typeface="Arial"/>
                          <a:ea typeface="Arial"/>
                          <a:cs typeface="Arial"/>
                        </a:rPr>
                        <a:t>Etapa</a:t>
                      </a:r>
                    </a:p>
                  </a:txBody>
                  <a:tcPr marL="114300" marR="114300" marT="95250" marB="95250" anchor="ctr">
                    <a:solidFill>
                      <a:srgbClr val="FFFFFF"/>
                    </a:solidFill>
                  </a:tcPr>
                </a:tc>
                <a:tc>
                  <a:txBody>
                    <a:bodyPr/>
                    <a:lstStyle/>
                    <a:p>
                      <a:r>
                        <a:rPr sz="1800" b="1">
                          <a:solidFill>
                            <a:srgbClr val="000000"/>
                          </a:solidFill>
                          <a:latin typeface="Arial"/>
                          <a:ea typeface="Arial"/>
                          <a:cs typeface="Arial"/>
                        </a:rPr>
                        <a:t>Entrenamiento</a:t>
                      </a:r>
                    </a:p>
                  </a:txBody>
                  <a:tcPr marL="114300" marR="114300" marT="95250" marB="95250" anchor="ctr">
                    <a:solidFill>
                      <a:srgbClr val="FFFFFF"/>
                    </a:solidFill>
                  </a:tcPr>
                </a:tc>
                <a:tc>
                  <a:txBody>
                    <a:bodyPr/>
                    <a:lstStyle/>
                    <a:p>
                      <a:r>
                        <a:rPr sz="1800" b="1">
                          <a:solidFill>
                            <a:srgbClr val="000000"/>
                          </a:solidFill>
                          <a:latin typeface="Arial"/>
                          <a:ea typeface="Arial"/>
                          <a:cs typeface="Arial"/>
                        </a:rPr>
                        <a:t>Evaluación</a:t>
                      </a:r>
                    </a:p>
                  </a:txBody>
                  <a:tcPr marL="114300" marR="114300" marT="95250" marB="95250" anchor="ctr">
                    <a:solidFill>
                      <a:srgbClr val="FFFFFF"/>
                    </a:solidFill>
                  </a:tcPr>
                </a:tc>
                <a:tc>
                  <a:txBody>
                    <a:bodyPr/>
                    <a:lstStyle/>
                    <a:p>
                      <a:r>
                        <a:rPr sz="1800" b="1">
                          <a:solidFill>
                            <a:srgbClr val="000000"/>
                          </a:solidFill>
                          <a:latin typeface="Arial"/>
                          <a:ea typeface="Arial"/>
                          <a:cs typeface="Arial"/>
                        </a:rPr>
                        <a:t>Filas</a:t>
                      </a:r>
                    </a:p>
                  </a:txBody>
                  <a:tcPr marL="114300" marR="114300" marT="95250" marB="95250" anchor="ctr">
                    <a:solidFill>
                      <a:srgbClr val="FFFFFF"/>
                    </a:solidFill>
                  </a:tcPr>
                </a:tc>
              </a:tr>
              <a:tr h="833438">
                <a:tc>
                  <a:txBody>
                    <a:bodyPr/>
                    <a:lstStyle/>
                    <a:p>
                      <a:r>
                        <a:rPr sz="1800">
                          <a:solidFill>
                            <a:srgbClr val="000000"/>
                          </a:solidFill>
                          <a:latin typeface="Arial"/>
                          <a:ea typeface="Arial"/>
                          <a:cs typeface="Arial"/>
                        </a:rPr>
                        <a:t>Ajuste</a:t>
                      </a:r>
                    </a:p>
                  </a:txBody>
                  <a:tcPr marL="114300" marR="114300" marT="95250" marB="95250" anchor="ctr">
                    <a:solidFill>
                      <a:srgbClr val="FFFFFF"/>
                    </a:solidFill>
                  </a:tcPr>
                </a:tc>
                <a:tc>
                  <a:txBody>
                    <a:bodyPr/>
                    <a:lstStyle/>
                    <a:p>
                      <a:r>
                        <a:rPr sz="1800">
                          <a:solidFill>
                            <a:srgbClr val="000000"/>
                          </a:solidFill>
                          <a:latin typeface="Arial"/>
                          <a:ea typeface="Arial"/>
                          <a:cs typeface="Arial"/>
                        </a:rPr>
                        <a:t>Hasta 2010-12</a:t>
                      </a:r>
                    </a:p>
                  </a:txBody>
                  <a:tcPr marL="114300" marR="114300" marT="95250" marB="95250" anchor="ctr">
                    <a:solidFill>
                      <a:srgbClr val="FFFFFF"/>
                    </a:solidFill>
                  </a:tcPr>
                </a:tc>
                <a:tc>
                  <a:txBody>
                    <a:bodyPr/>
                    <a:lstStyle/>
                    <a:p>
                      <a:r>
                        <a:rPr sz="1800">
                          <a:solidFill>
                            <a:srgbClr val="000000"/>
                          </a:solidFill>
                          <a:latin typeface="Arial"/>
                          <a:ea typeface="Arial"/>
                          <a:cs typeface="Arial"/>
                        </a:rPr>
                        <a:t>2011-2012 presentes</a:t>
                      </a:r>
                    </a:p>
                  </a:txBody>
                  <a:tcPr marL="114300" marR="114300" marT="95250" marB="95250" anchor="ctr">
                    <a:solidFill>
                      <a:srgbClr val="FFFFFF"/>
                    </a:solidFill>
                  </a:tcPr>
                </a:tc>
                <a:tc>
                  <a:txBody>
                    <a:bodyPr/>
                    <a:lstStyle/>
                    <a:p>
                      <a:r>
                        <a:rPr sz="1800">
                          <a:solidFill>
                            <a:srgbClr val="000000"/>
                          </a:solidFill>
                          <a:latin typeface="Arial"/>
                          <a:ea typeface="Arial"/>
                          <a:cs typeface="Arial"/>
                        </a:rPr>
                        <a:t>249,667</a:t>
                      </a:r>
                    </a:p>
                  </a:txBody>
                  <a:tcPr marL="114300" marR="114300" marT="95250" marB="95250" anchor="ctr">
                    <a:solidFill>
                      <a:srgbClr val="FFFFFF"/>
                    </a:solidFill>
                  </a:tcPr>
                </a:tc>
              </a:tr>
              <a:tr h="833438">
                <a:tc>
                  <a:txBody>
                    <a:bodyPr/>
                    <a:lstStyle/>
                    <a:p>
                      <a:r>
                        <a:rPr sz="1800">
                          <a:solidFill>
                            <a:srgbClr val="000000"/>
                          </a:solidFill>
                          <a:latin typeface="Arial"/>
                          <a:ea typeface="Arial"/>
                          <a:cs typeface="Arial"/>
                        </a:rPr>
                        <a:t>Confirmación</a:t>
                      </a:r>
                    </a:p>
                  </a:txBody>
                  <a:tcPr marL="114300" marR="114300" marT="95250" marB="95250" anchor="ctr">
                    <a:solidFill>
                      <a:srgbClr val="FFFFFF"/>
                    </a:solidFill>
                  </a:tcPr>
                </a:tc>
                <a:tc>
                  <a:txBody>
                    <a:bodyPr/>
                    <a:lstStyle/>
                    <a:p>
                      <a:r>
                        <a:rPr sz="1800">
                          <a:solidFill>
                            <a:srgbClr val="000000"/>
                          </a:solidFill>
                          <a:latin typeface="Arial"/>
                          <a:ea typeface="Arial"/>
                          <a:cs typeface="Arial"/>
                        </a:rPr>
                        <a:t>Hasta 2012-10</a:t>
                      </a:r>
                    </a:p>
                  </a:txBody>
                  <a:tcPr marL="114300" marR="114300" marT="95250" marB="95250" anchor="ctr">
                    <a:solidFill>
                      <a:srgbClr val="FFFFFF"/>
                    </a:solidFill>
                  </a:tcPr>
                </a:tc>
                <a:tc>
                  <a:txBody>
                    <a:bodyPr/>
                    <a:lstStyle/>
                    <a:p>
                      <a:r>
                        <a:rPr sz="1800">
                          <a:solidFill>
                            <a:srgbClr val="000000"/>
                          </a:solidFill>
                          <a:latin typeface="Arial"/>
                          <a:ea typeface="Arial"/>
                          <a:cs typeface="Arial"/>
                        </a:rPr>
                        <a:t>2013 presentes</a:t>
                      </a:r>
                    </a:p>
                  </a:txBody>
                  <a:tcPr marL="114300" marR="114300" marT="95250" marB="95250" anchor="ctr">
                    <a:solidFill>
                      <a:srgbClr val="FFFFFF"/>
                    </a:solidFill>
                  </a:tcPr>
                </a:tc>
                <a:tc>
                  <a:txBody>
                    <a:bodyPr/>
                    <a:lstStyle/>
                    <a:p>
                      <a:r>
                        <a:rPr sz="1800">
                          <a:solidFill>
                            <a:srgbClr val="000000"/>
                          </a:solidFill>
                          <a:latin typeface="Arial"/>
                          <a:ea typeface="Arial"/>
                          <a:cs typeface="Arial"/>
                        </a:rPr>
                        <a:t>109,287</a:t>
                      </a:r>
                    </a:p>
                  </a:txBody>
                  <a:tcPr marL="114300" marR="114300" marT="95250" marB="95250" anchor="ctr">
                    <a:solidFill>
                      <a:srgbClr val="FFFFFF"/>
                    </a:solidFill>
                  </a:tcPr>
                </a:tc>
              </a:tr>
              <a:tr h="833438">
                <a:tc>
                  <a:txBody>
                    <a:bodyPr/>
                    <a:lstStyle/>
                    <a:p>
                      <a:r>
                        <a:rPr sz="1800">
                          <a:solidFill>
                            <a:srgbClr val="000000"/>
                          </a:solidFill>
                          <a:latin typeface="Arial"/>
                          <a:ea typeface="Arial"/>
                          <a:cs typeface="Arial"/>
                        </a:rPr>
                        <a:t>Prueba final</a:t>
                      </a:r>
                    </a:p>
                  </a:txBody>
                  <a:tcPr marL="114300" marR="114300" marT="95250" marB="95250" anchor="ctr">
                    <a:solidFill>
                      <a:srgbClr val="FFFFFF"/>
                    </a:solidFill>
                  </a:tcPr>
                </a:tc>
                <a:tc>
                  <a:txBody>
                    <a:bodyPr/>
                    <a:lstStyle/>
                    <a:p>
                      <a:r>
                        <a:rPr sz="1800">
                          <a:solidFill>
                            <a:srgbClr val="000000"/>
                          </a:solidFill>
                          <a:latin typeface="Arial"/>
                          <a:ea typeface="Arial"/>
                          <a:cs typeface="Arial"/>
                        </a:rPr>
                        <a:t>Hasta 2013-12</a:t>
                      </a:r>
                    </a:p>
                  </a:txBody>
                  <a:tcPr marL="114300" marR="114300" marT="95250" marB="95250" anchor="ctr">
                    <a:solidFill>
                      <a:srgbClr val="FFFFFF"/>
                    </a:solidFill>
                  </a:tcPr>
                </a:tc>
                <a:tc>
                  <a:txBody>
                    <a:bodyPr/>
                    <a:lstStyle/>
                    <a:p>
                      <a:r>
                        <a:rPr sz="1800">
                          <a:solidFill>
                            <a:srgbClr val="000000"/>
                          </a:solidFill>
                          <a:latin typeface="Arial"/>
                          <a:ea typeface="Arial"/>
                          <a:cs typeface="Arial"/>
                        </a:rPr>
                        <a:t>2014-2015 presentes</a:t>
                      </a:r>
                    </a:p>
                  </a:txBody>
                  <a:tcPr marL="114300" marR="114300" marT="95250" marB="95250" anchor="ctr">
                    <a:solidFill>
                      <a:srgbClr val="FFFFFF"/>
                    </a:solidFill>
                  </a:tcPr>
                </a:tc>
                <a:tc>
                  <a:txBody>
                    <a:bodyPr/>
                    <a:lstStyle/>
                    <a:p>
                      <a:r>
                        <a:rPr sz="1800">
                          <a:solidFill>
                            <a:srgbClr val="000000"/>
                          </a:solidFill>
                          <a:latin typeface="Arial"/>
                          <a:ea typeface="Arial"/>
                          <a:cs typeface="Arial"/>
                        </a:rPr>
                        <a:t>265,447</a:t>
                      </a:r>
                    </a:p>
                  </a:txBody>
                  <a:tcPr marL="114300" marR="114300" marT="95250" marB="952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53E53BC-729B-4ED4-8346-1F2FC90DC79A}"/>
              </a:ext>
            </a:extLst>
          </p:cNvPr>
          <p:cNvSpPr>
            <a:spLocks xmlns:a="http://schemas.openxmlformats.org/drawingml/2006/main" noGrp="1"/>
          </p:cNvSpPr>
          <p:nvPr/>
        </p:nvSpPr>
        <p:spPr>
          <a:xfrm xmlns:a="http://schemas.openxmlformats.org/drawingml/2006/main">
            <a:off x="685800" y="585787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000000"/>
                </a:solidFill>
                <a:latin typeface="Arial"/>
                <a:ea typeface="Arial"/>
                <a:cs typeface="Arial"/>
              </a:defRPr>
            </a:defPPr>
          </a:lstStyle>
          <a:p xmlns:a="http://schemas.openxmlformats.org/drawingml/2006/main">
            <a:pPr>
              <a:defRPr sz="1725" b="0">
                <a:solidFill>
                  <a:srgbClr val="000000"/>
                </a:solidFill>
                <a:latin typeface="Arial"/>
                <a:ea typeface="Arial"/>
                <a:cs typeface="Arial"/>
              </a:defRPr>
            </a:pPr>
            <a:r>
              <a:rPr sz="1725" b="0">
                <a:solidFill>
                  <a:srgbClr val="000000"/>
                </a:solidFill>
                <a:latin typeface="Arial"/>
                <a:ea typeface="Arial"/>
                <a:cs typeface="Arial"/>
              </a:rPr>
              <a:t>La selección se fijó en 2013. La prueba final nunca se utilizó para ajustar parámetros o detener el entrenamiento.</a:t>
            </a:r>
          </a:p>
        </p:txBody>
      </p:sp>
    </p:spTree>
    <p:extLst>
      <p:ext uri="{BB962C8B-B14F-4D97-AF65-F5344CB8AC3E}">
        <p14:creationId xmlns:p14="http://schemas.microsoft.com/office/powerpoint/2010/main" val="3337657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863E9D9-2002-42AF-9360-4A8FDDBF0B96}"/>
              </a:ext>
            </a:extLst>
          </p:cNvPr>
          <p:cNvSpPr>
            <a:spLocks xmlns:a="http://schemas.openxmlformats.org/drawingml/2006/main" noGrp="1"/>
          </p:cNvSpPr>
          <p:nvPr/>
        </p:nvSpPr>
        <p:spPr>
          <a:xfrm xmlns:a="http://schemas.openxmlformats.org/drawingml/2006/main">
            <a:off x="685800" y="4286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0000"/>
                </a:solidFill>
                <a:latin typeface="Arial"/>
                <a:ea typeface="Arial"/>
                <a:cs typeface="Arial"/>
              </a:defRPr>
            </a:defPPr>
          </a:lstStyle>
          <a:p xmlns:a="http://schemas.openxmlformats.org/drawingml/2006/main">
            <a:pPr>
              <a:defRPr sz="3300" b="1">
                <a:solidFill>
                  <a:srgbClr val="000000"/>
                </a:solidFill>
                <a:latin typeface="Arial"/>
                <a:ea typeface="Arial"/>
                <a:cs typeface="Arial"/>
              </a:defRPr>
            </a:pPr>
            <a:r>
              <a:rPr sz="3300" b="1">
                <a:solidFill>
                  <a:srgbClr val="000000"/>
                </a:solidFill>
                <a:latin typeface="Arial"/>
                <a:ea typeface="Arial"/>
                <a:cs typeface="Arial"/>
              </a:rPr>
              <a:t>Literatura y elección de las tres familias</a:t>
            </a:r>
          </a:p>
        </p:txBody>
      </p:sp>
      <p:graphicFrame>
        <p:nvGraphicFramePr>
          <p:cNvPr id="2" name="">
            <a:extLst xmlns:a="http://schemas.openxmlformats.org/drawingml/2006/main">
              <a:ext uri="{FF2B5EF4-FFF2-40B4-BE49-F238E27FC236}">
                <a16:creationId xmlns:a16="http://schemas.microsoft.com/office/drawing/2014/main" id="{796D016B-95D5-4547-9006-6AFD55AC04E2}"/>
              </a:ext>
            </a:extLst>
          </p:cNvPr>
          <p:cNvGraphicFramePr/>
          <p:nvPr/>
        </p:nvGraphicFramePr>
        <p:xfrm>
          <a:off xmlns:a="http://schemas.openxmlformats.org/drawingml/2006/main" x="685800" y="1571625"/>
          <a:ext xmlns:a="http://schemas.openxmlformats.org/drawingml/2006/main" cx="10820400" cy="3333750"/>
        </p:xfrm>
        <a:graphic xmlns:a="http://schemas.openxmlformats.org/drawingml/2006/main">
          <a:graphicData uri="http://schemas.openxmlformats.org/drawingml/2006/table">
            <a:tbl>
              <a:tblPr/>
              <a:tblGrid>
                <a:gridCol w="2381250"/>
                <a:gridCol w="4476750"/>
                <a:gridCol w="3962400"/>
              </a:tblGrid>
              <a:tr h="833438">
                <a:tc>
                  <a:txBody>
                    <a:bodyPr/>
                    <a:lstStyle/>
                    <a:p>
                      <a:r>
                        <a:rPr sz="1800" b="1">
                          <a:solidFill>
                            <a:srgbClr val="000000"/>
                          </a:solidFill>
                          <a:latin typeface="Arial"/>
                          <a:ea typeface="Arial"/>
                          <a:cs typeface="Arial"/>
                        </a:rPr>
                        <a:t>Familia</a:t>
                      </a:r>
                    </a:p>
                  </a:txBody>
                  <a:tcPr marL="114300" marR="114300" marT="95250" marB="95250" anchor="ctr">
                    <a:solidFill>
                      <a:srgbClr val="FFFFFF"/>
                    </a:solidFill>
                  </a:tcPr>
                </a:tc>
                <a:tc>
                  <a:txBody>
                    <a:bodyPr/>
                    <a:lstStyle/>
                    <a:p>
                      <a:r>
                        <a:rPr sz="1800" b="1">
                          <a:solidFill>
                            <a:srgbClr val="000000"/>
                          </a:solidFill>
                          <a:latin typeface="Arial"/>
                          <a:ea typeface="Arial"/>
                          <a:cs typeface="Arial"/>
                        </a:rPr>
                        <a:t>Razón de inclusión</a:t>
                      </a:r>
                    </a:p>
                  </a:txBody>
                  <a:tcPr marL="114300" marR="114300" marT="95250" marB="95250" anchor="ctr">
                    <a:solidFill>
                      <a:srgbClr val="FFFFFF"/>
                    </a:solidFill>
                  </a:tcPr>
                </a:tc>
                <a:tc>
                  <a:txBody>
                    <a:bodyPr/>
                    <a:lstStyle/>
                    <a:p>
                      <a:r>
                        <a:rPr sz="1800" b="1">
                          <a:solidFill>
                            <a:srgbClr val="000000"/>
                          </a:solidFill>
                          <a:latin typeface="Arial"/>
                          <a:ea typeface="Arial"/>
                          <a:cs typeface="Arial"/>
                        </a:rPr>
                        <a:t>Antecedente</a:t>
                      </a:r>
                    </a:p>
                  </a:txBody>
                  <a:tcPr marL="114300" marR="114300" marT="95250" marB="95250" anchor="ctr">
                    <a:solidFill>
                      <a:srgbClr val="FFFFFF"/>
                    </a:solidFill>
                  </a:tcPr>
                </a:tc>
              </a:tr>
              <a:tr h="833438">
                <a:tc>
                  <a:txBody>
                    <a:bodyPr/>
                    <a:lstStyle/>
                    <a:p>
                      <a:r>
                        <a:rPr sz="1800">
                          <a:solidFill>
                            <a:srgbClr val="000000"/>
                          </a:solidFill>
                          <a:latin typeface="Arial"/>
                          <a:ea typeface="Arial"/>
                          <a:cs typeface="Arial"/>
                        </a:rPr>
                        <a:t>Random Forest</a:t>
                      </a:r>
                    </a:p>
                  </a:txBody>
                  <a:tcPr marL="114300" marR="114300" marT="95250" marB="95250" anchor="ctr">
                    <a:solidFill>
                      <a:srgbClr val="FFFFFF"/>
                    </a:solidFill>
                  </a:tcPr>
                </a:tc>
                <a:tc>
                  <a:txBody>
                    <a:bodyPr/>
                    <a:lstStyle/>
                    <a:p>
                      <a:r>
                        <a:rPr sz="1800">
                          <a:solidFill>
                            <a:srgbClr val="000000"/>
                          </a:solidFill>
                          <a:latin typeface="Arial"/>
                          <a:ea typeface="Arial"/>
                          <a:cs typeface="Arial"/>
                        </a:rPr>
                        <a:t>Interacciones no lineales y referencia tabular</a:t>
                      </a:r>
                    </a:p>
                  </a:txBody>
                  <a:tcPr marL="114300" marR="114300" marT="95250" marB="95250" anchor="ctr">
                    <a:solidFill>
                      <a:srgbClr val="FFFFFF"/>
                    </a:solidFill>
                  </a:tcPr>
                </a:tc>
                <a:tc>
                  <a:txBody>
                    <a:bodyPr/>
                    <a:lstStyle/>
                    <a:p>
                      <a:r>
                        <a:rPr sz="1800">
                          <a:solidFill>
                            <a:srgbClr val="000000"/>
                          </a:solidFill>
                          <a:latin typeface="Arial"/>
                          <a:ea typeface="Arial"/>
                          <a:cs typeface="Arial"/>
                        </a:rPr>
                        <a:t>Breiman 2001 y A. Y. Sun et al. 2021</a:t>
                      </a:r>
                    </a:p>
                  </a:txBody>
                  <a:tcPr marL="114300" marR="114300" marT="95250" marB="95250" anchor="ctr">
                    <a:solidFill>
                      <a:srgbClr val="FFFFFF"/>
                    </a:solidFill>
                  </a:tcPr>
                </a:tc>
              </a:tr>
              <a:tr h="833438">
                <a:tc>
                  <a:txBody>
                    <a:bodyPr/>
                    <a:lstStyle/>
                    <a:p>
                      <a:r>
                        <a:rPr sz="1800">
                          <a:solidFill>
                            <a:srgbClr val="000000"/>
                          </a:solidFill>
                          <a:latin typeface="Arial"/>
                          <a:ea typeface="Arial"/>
                          <a:cs typeface="Arial"/>
                        </a:rPr>
                        <a:t>XGBoost</a:t>
                      </a:r>
                    </a:p>
                  </a:txBody>
                  <a:tcPr marL="114300" marR="114300" marT="95250" marB="95250" anchor="ctr">
                    <a:solidFill>
                      <a:srgbClr val="FFFFFF"/>
                    </a:solidFill>
                  </a:tcPr>
                </a:tc>
                <a:tc>
                  <a:txBody>
                    <a:bodyPr/>
                    <a:lstStyle/>
                    <a:p>
                      <a:r>
                        <a:rPr sz="1800">
                          <a:solidFill>
                            <a:srgbClr val="000000"/>
                          </a:solidFill>
                          <a:latin typeface="Arial"/>
                          <a:ea typeface="Arial"/>
                          <a:cs typeface="Arial"/>
                        </a:rPr>
                        <a:t>Árboles secuenciales y regularización</a:t>
                      </a:r>
                    </a:p>
                  </a:txBody>
                  <a:tcPr marL="114300" marR="114300" marT="95250" marB="95250" anchor="ctr">
                    <a:solidFill>
                      <a:srgbClr val="FFFFFF"/>
                    </a:solidFill>
                  </a:tcPr>
                </a:tc>
                <a:tc>
                  <a:txBody>
                    <a:bodyPr/>
                    <a:lstStyle/>
                    <a:p>
                      <a:r>
                        <a:rPr sz="1800">
                          <a:solidFill>
                            <a:srgbClr val="000000"/>
                          </a:solidFill>
                          <a:latin typeface="Arial"/>
                          <a:ea typeface="Arial"/>
                          <a:cs typeface="Arial"/>
                        </a:rPr>
                        <a:t>A. Y. Sun et al. 2021</a:t>
                      </a:r>
                    </a:p>
                  </a:txBody>
                  <a:tcPr marL="114300" marR="114300" marT="95250" marB="95250" anchor="ctr">
                    <a:solidFill>
                      <a:srgbClr val="FFFFFF"/>
                    </a:solidFill>
                  </a:tcPr>
                </a:tc>
              </a:tr>
              <a:tr h="833438">
                <a:tc>
                  <a:txBody>
                    <a:bodyPr/>
                    <a:lstStyle/>
                    <a:p>
                      <a:r>
                        <a:rPr sz="1800">
                          <a:solidFill>
                            <a:srgbClr val="000000"/>
                          </a:solidFill>
                          <a:latin typeface="Arial"/>
                          <a:ea typeface="Arial"/>
                          <a:cs typeface="Arial"/>
                        </a:rPr>
                        <a:t>LSTM</a:t>
                      </a:r>
                    </a:p>
                  </a:txBody>
                  <a:tcPr marL="114300" marR="114300" marT="95250" marB="95250" anchor="ctr">
                    <a:solidFill>
                      <a:srgbClr val="FFFFFF"/>
                    </a:solidFill>
                  </a:tcPr>
                </a:tc>
                <a:tc>
                  <a:txBody>
                    <a:bodyPr/>
                    <a:lstStyle/>
                    <a:p>
                      <a:r>
                        <a:rPr sz="1800">
                          <a:solidFill>
                            <a:srgbClr val="000000"/>
                          </a:solidFill>
                          <a:latin typeface="Arial"/>
                          <a:ea typeface="Arial"/>
                          <a:cs typeface="Arial"/>
                        </a:rPr>
                        <a:t>Memoria hidrológica en secuencias</a:t>
                      </a:r>
                    </a:p>
                  </a:txBody>
                  <a:tcPr marL="114300" marR="114300" marT="95250" marB="95250" anchor="ctr">
                    <a:solidFill>
                      <a:srgbClr val="FFFFFF"/>
                    </a:solidFill>
                  </a:tcPr>
                </a:tc>
                <a:tc>
                  <a:txBody>
                    <a:bodyPr/>
                    <a:lstStyle/>
                    <a:p>
                      <a:r>
                        <a:rPr sz="1800">
                          <a:solidFill>
                            <a:srgbClr val="000000"/>
                          </a:solidFill>
                          <a:latin typeface="Arial"/>
                          <a:ea typeface="Arial"/>
                          <a:cs typeface="Arial"/>
                        </a:rPr>
                        <a:t>Palazzoli et al. 2025 y Li y Kusche 2026</a:t>
                      </a:r>
                    </a:p>
                  </a:txBody>
                  <a:tcPr marL="114300" marR="114300" marT="95250" marB="952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214D61E-1173-4BFC-A3CF-9CBC408FC57A}"/>
              </a:ext>
            </a:extLst>
          </p:cNvPr>
          <p:cNvSpPr>
            <a:spLocks xmlns:a="http://schemas.openxmlformats.org/drawingml/2006/main" noGrp="1"/>
          </p:cNvSpPr>
          <p:nvPr/>
        </p:nvSpPr>
        <p:spPr>
          <a:xfrm xmlns:a="http://schemas.openxmlformats.org/drawingml/2006/main">
            <a:off x="685800" y="585787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000000"/>
                </a:solidFill>
                <a:latin typeface="Arial"/>
                <a:ea typeface="Arial"/>
                <a:cs typeface="Arial"/>
              </a:defRPr>
            </a:defPPr>
          </a:lstStyle>
          <a:p xmlns:a="http://schemas.openxmlformats.org/drawingml/2006/main">
            <a:pPr>
              <a:defRPr sz="1725" b="0">
                <a:solidFill>
                  <a:srgbClr val="000000"/>
                </a:solidFill>
                <a:latin typeface="Arial"/>
                <a:ea typeface="Arial"/>
                <a:cs typeface="Arial"/>
              </a:defRPr>
            </a:pPr>
            <a:r>
              <a:rPr sz="1725" b="0">
                <a:solidFill>
                  <a:srgbClr val="000000"/>
                </a:solidFill>
                <a:latin typeface="Arial"/>
                <a:ea typeface="Arial"/>
                <a:cs typeface="Arial"/>
              </a:rPr>
              <a:t>Nueve antecedentes y dos fundamentos científicos. El informe incluye referencias APA y evidencia de indexación.</a:t>
            </a:r>
          </a:p>
        </p:txBody>
      </p:sp>
    </p:spTree>
    <p:extLst>
      <p:ext uri="{BB962C8B-B14F-4D97-AF65-F5344CB8AC3E}">
        <p14:creationId xmlns:p14="http://schemas.microsoft.com/office/powerpoint/2010/main" val="5085241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16E145B-4635-4139-8AAE-C6A0E1A58EC0}"/>
              </a:ext>
            </a:extLst>
          </p:cNvPr>
          <p:cNvSpPr>
            <a:spLocks xmlns:a="http://schemas.openxmlformats.org/drawingml/2006/main" noGrp="1"/>
          </p:cNvSpPr>
          <p:nvPr/>
        </p:nvSpPr>
        <p:spPr>
          <a:xfrm xmlns:a="http://schemas.openxmlformats.org/drawingml/2006/main">
            <a:off x="685800" y="4286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0000"/>
                </a:solidFill>
                <a:latin typeface="Arial"/>
                <a:ea typeface="Arial"/>
                <a:cs typeface="Arial"/>
              </a:defRPr>
            </a:defPPr>
          </a:lstStyle>
          <a:p xmlns:a="http://schemas.openxmlformats.org/drawingml/2006/main">
            <a:pPr>
              <a:defRPr sz="3300" b="1">
                <a:solidFill>
                  <a:srgbClr val="000000"/>
                </a:solidFill>
                <a:latin typeface="Arial"/>
                <a:ea typeface="Arial"/>
                <a:cs typeface="Arial"/>
              </a:defRPr>
            </a:pPr>
            <a:r>
              <a:rPr sz="3300" b="1">
                <a:solidFill>
                  <a:srgbClr val="000000"/>
                </a:solidFill>
                <a:latin typeface="Arial"/>
                <a:ea typeface="Arial"/>
                <a:cs typeface="Arial"/>
              </a:rPr>
              <a:t>Entradas causales compartidas</a:t>
            </a:r>
          </a:p>
        </p:txBody>
      </p:sp>
      <p:sp>
        <p:nvSpPr>
          <p:cNvPr id="2" name="">
            <a:extLst xmlns:a="http://schemas.openxmlformats.org/drawingml/2006/main">
              <a:ext uri="{FF2B5EF4-FFF2-40B4-BE49-F238E27FC236}">
                <a16:creationId xmlns:a16="http://schemas.microsoft.com/office/drawing/2014/main" id="{0ECAC11C-DA5F-4860-B748-9B7C9B5C529C}"/>
              </a:ext>
            </a:extLst>
          </p:cNvPr>
          <p:cNvSpPr>
            <a:spLocks xmlns:a="http://schemas.openxmlformats.org/drawingml/2006/main" noGrp="1"/>
          </p:cNvSpPr>
          <p:nvPr/>
        </p:nvSpPr>
        <p:spPr>
          <a:xfrm xmlns:a="http://schemas.openxmlformats.org/drawingml/2006/main">
            <a:off x="685800" y="1619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00000"/>
                </a:solidFill>
                <a:latin typeface="Arial"/>
                <a:ea typeface="Arial"/>
                <a:cs typeface="Arial"/>
              </a:defRPr>
            </a:defPPr>
          </a:lstStyle>
          <a:p xmlns:a="http://schemas.openxmlformats.org/drawingml/2006/main">
            <a:pPr>
              <a:defRPr sz="2100" b="0">
                <a:solidFill>
                  <a:srgbClr val="000000"/>
                </a:solidFill>
                <a:latin typeface="Arial"/>
                <a:ea typeface="Arial"/>
                <a:cs typeface="Arial"/>
              </a:defRPr>
            </a:pPr>
            <a:r>
              <a:rPr sz="2100" b="0">
                <a:solidFill>
                  <a:srgbClr val="000000"/>
                </a:solidFill>
                <a:latin typeface="Arial"/>
                <a:ea typeface="Arial"/>
                <a:cs typeface="Arial"/>
              </a:rPr>
              <a:t>Seis meses calendario con ocho canales por paso: clima, TWS observable e indicadores de disponibilidad.</a:t>
            </a:r>
          </a:p>
        </p:txBody>
      </p:sp>
      <p:sp>
        <p:nvSpPr>
          <p:cNvPr id="3" name="">
            <a:extLst xmlns:a="http://schemas.openxmlformats.org/drawingml/2006/main">
              <a:ext uri="{FF2B5EF4-FFF2-40B4-BE49-F238E27FC236}">
                <a16:creationId xmlns:a16="http://schemas.microsoft.com/office/drawing/2014/main" id="{297047DB-E123-464E-9EC6-B687B49342A2}"/>
              </a:ext>
            </a:extLst>
          </p:cNvPr>
          <p:cNvSpPr>
            <a:spLocks xmlns:a="http://schemas.openxmlformats.org/drawingml/2006/main" noGrp="1"/>
          </p:cNvSpPr>
          <p:nvPr/>
        </p:nvSpPr>
        <p:spPr>
          <a:xfrm xmlns:a="http://schemas.openxmlformats.org/drawingml/2006/main">
            <a:off x="685800" y="26479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00000"/>
                </a:solidFill>
                <a:latin typeface="Arial"/>
                <a:ea typeface="Arial"/>
                <a:cs typeface="Arial"/>
              </a:defRPr>
            </a:defPPr>
          </a:lstStyle>
          <a:p xmlns:a="http://schemas.openxmlformats.org/drawingml/2006/main">
            <a:pPr>
              <a:defRPr sz="2100" b="0">
                <a:solidFill>
                  <a:srgbClr val="000000"/>
                </a:solidFill>
                <a:latin typeface="Arial"/>
                <a:ea typeface="Arial"/>
                <a:cs typeface="Arial"/>
              </a:defRPr>
            </a:pPr>
            <a:r>
              <a:rPr sz="2100" b="0">
                <a:solidFill>
                  <a:srgbClr val="000000"/>
                </a:solidFill>
                <a:latin typeface="Arial"/>
                <a:ea typeface="Arial"/>
                <a:cs typeface="Arial"/>
              </a:rPr>
              <a:t>Nueve variables de contexto: estacionalidad, última observación y antigüedad, ubicación y tiempo transcurrido.</a:t>
            </a:r>
          </a:p>
        </p:txBody>
      </p:sp>
      <p:sp>
        <p:nvSpPr>
          <p:cNvPr id="4" name="">
            <a:extLst xmlns:a="http://schemas.openxmlformats.org/drawingml/2006/main">
              <a:ext uri="{FF2B5EF4-FFF2-40B4-BE49-F238E27FC236}">
                <a16:creationId xmlns:a16="http://schemas.microsoft.com/office/drawing/2014/main" id="{DD22618F-3498-4791-9D02-4F17D9D19046}"/>
              </a:ext>
            </a:extLst>
          </p:cNvPr>
          <p:cNvSpPr>
            <a:spLocks xmlns:a="http://schemas.openxmlformats.org/drawingml/2006/main" noGrp="1"/>
          </p:cNvSpPr>
          <p:nvPr/>
        </p:nvSpPr>
        <p:spPr>
          <a:xfrm xmlns:a="http://schemas.openxmlformats.org/drawingml/2006/main">
            <a:off x="685800" y="36766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00000"/>
                </a:solidFill>
                <a:latin typeface="Arial"/>
                <a:ea typeface="Arial"/>
                <a:cs typeface="Arial"/>
              </a:defRPr>
            </a:defPPr>
          </a:lstStyle>
          <a:p xmlns:a="http://schemas.openxmlformats.org/drawingml/2006/main">
            <a:pPr>
              <a:defRPr sz="2100" b="0">
                <a:solidFill>
                  <a:srgbClr val="000000"/>
                </a:solidFill>
                <a:latin typeface="Arial"/>
                <a:ea typeface="Arial"/>
                <a:cs typeface="Arial"/>
              </a:defRPr>
            </a:pPr>
            <a:r>
              <a:rPr sz="2100" b="0">
                <a:solidFill>
                  <a:srgbClr val="000000"/>
                </a:solidFill>
                <a:latin typeface="Arial"/>
                <a:ea typeface="Arial"/>
                <a:cs typeface="Arial"/>
              </a:rPr>
              <a:t>Las tres familias predicen una corrección respecto del último TWS permitido. No se usa información futura.</a:t>
            </a:r>
          </a:p>
        </p:txBody>
      </p:sp>
      <p:sp>
        <p:nvSpPr>
          <p:cNvPr id="5" name="">
            <a:extLst xmlns:a="http://schemas.openxmlformats.org/drawingml/2006/main">
              <a:ext uri="{FF2B5EF4-FFF2-40B4-BE49-F238E27FC236}">
                <a16:creationId xmlns:a16="http://schemas.microsoft.com/office/drawing/2014/main" id="{8C3FF554-2DC0-4219-B114-98E1DC5E6A26}"/>
              </a:ext>
            </a:extLst>
          </p:cNvPr>
          <p:cNvSpPr>
            <a:spLocks xmlns:a="http://schemas.openxmlformats.org/drawingml/2006/main" noGrp="1"/>
          </p:cNvSpPr>
          <p:nvPr/>
        </p:nvSpPr>
        <p:spPr>
          <a:xfrm xmlns:a="http://schemas.openxmlformats.org/drawingml/2006/main">
            <a:off x="685800" y="4705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00000"/>
                </a:solidFill>
                <a:latin typeface="Arial"/>
                <a:ea typeface="Arial"/>
                <a:cs typeface="Arial"/>
              </a:defRPr>
            </a:defPPr>
          </a:lstStyle>
          <a:p xmlns:a="http://schemas.openxmlformats.org/drawingml/2006/main">
            <a:pPr>
              <a:defRPr sz="2100" b="0">
                <a:solidFill>
                  <a:srgbClr val="000000"/>
                </a:solidFill>
                <a:latin typeface="Arial"/>
                <a:ea typeface="Arial"/>
                <a:cs typeface="Arial"/>
              </a:defRPr>
            </a:pPr>
            <a:r>
              <a:rPr sz="2100" b="0">
                <a:solidFill>
                  <a:srgbClr val="000000"/>
                </a:solidFill>
                <a:latin typeface="Arial"/>
                <a:ea typeface="Arial"/>
                <a:cs typeface="Arial"/>
              </a:rPr>
              <a:t>Máscara sintética de 67.21 %, aplicada por bloques temporales compartidos entre celdas.</a:t>
            </a:r>
          </a:p>
        </p:txBody>
      </p:sp>
    </p:spTree>
    <p:extLst>
      <p:ext uri="{BB962C8B-B14F-4D97-AF65-F5344CB8AC3E}">
        <p14:creationId xmlns:p14="http://schemas.microsoft.com/office/powerpoint/2010/main" val="149734724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A521B5D-6186-45F9-91A9-6B6402F0CD8D}"/>
              </a:ext>
            </a:extLst>
          </p:cNvPr>
          <p:cNvSpPr>
            <a:spLocks xmlns:a="http://schemas.openxmlformats.org/drawingml/2006/main" noGrp="1"/>
          </p:cNvSpPr>
          <p:nvPr/>
        </p:nvSpPr>
        <p:spPr>
          <a:xfrm xmlns:a="http://schemas.openxmlformats.org/drawingml/2006/main">
            <a:off x="685800" y="4286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0000"/>
                </a:solidFill>
                <a:latin typeface="Arial"/>
                <a:ea typeface="Arial"/>
                <a:cs typeface="Arial"/>
              </a:defRPr>
            </a:defPPr>
          </a:lstStyle>
          <a:p xmlns:a="http://schemas.openxmlformats.org/drawingml/2006/main">
            <a:pPr>
              <a:defRPr sz="3300" b="1">
                <a:solidFill>
                  <a:srgbClr val="000000"/>
                </a:solidFill>
                <a:latin typeface="Arial"/>
                <a:ea typeface="Arial"/>
                <a:cs typeface="Arial"/>
              </a:defRPr>
            </a:pPr>
            <a:r>
              <a:rPr sz="3300" b="1">
                <a:solidFill>
                  <a:srgbClr val="000000"/>
                </a:solidFill>
                <a:latin typeface="Arial"/>
                <a:ea typeface="Arial"/>
                <a:cs typeface="Arial"/>
              </a:rPr>
              <a:t>Random Forest y ajuste de configuraciones</a:t>
            </a:r>
          </a:p>
        </p:txBody>
      </p:sp>
      <p:graphicFrame>
        <p:nvGraphicFramePr>
          <p:cNvPr id="2" name="Chart">
            <a:extLst xmlns:a="http://schemas.openxmlformats.org/drawingml/2006/main">
              <a:ext uri="{FF2B5EF4-FFF2-40B4-BE49-F238E27FC236}">
                <a16:creationId xmlns:a16="http://schemas.microsoft.com/office/drawing/2014/main" id="{8DAE289E-2EA3-4B48-8381-6AC95981B40A}"/>
              </a:ext>
            </a:extLst>
          </p:cNvPr>
          <p:cNvGraphicFramePr/>
          <p:nvPr/>
        </p:nvGraphicFramePr>
        <p:xfrm>
          <a:off xmlns:a="http://schemas.openxmlformats.org/drawingml/2006/main" x="685800" y="1571625"/>
          <a:ext xmlns:a="http://schemas.openxmlformats.org/drawingml/2006/main" cx="10820400" cy="4000500"/>
        </p:xfrm>
        <a:graphic xmlns:a="http://schemas.openxmlformats.org/drawingml/2006/main">
          <a:graphicData uri="http://schemas.openxmlformats.org/drawingml/2006/chart">
            <c:chart xmlns:r="http://schemas.openxmlformats.org/officeDocument/2006/relationships" xmlns:c="http://schemas.openxmlformats.org/drawingml/2006/chart" r:id="R00e307a92f8a4ace"/>
          </a:graphicData>
        </a:graphic>
      </p:graphicFrame>
      <p:sp>
        <p:nvSpPr>
          <p:cNvPr id="3" name="">
            <a:extLst xmlns:a="http://schemas.openxmlformats.org/drawingml/2006/main">
              <a:ext uri="{FF2B5EF4-FFF2-40B4-BE49-F238E27FC236}">
                <a16:creationId xmlns:a16="http://schemas.microsoft.com/office/drawing/2014/main" id="{CC7AA7F1-F3A7-44B1-84A1-4FC20AB57597}"/>
              </a:ext>
            </a:extLst>
          </p:cNvPr>
          <p:cNvSpPr>
            <a:spLocks xmlns:a="http://schemas.openxmlformats.org/drawingml/2006/main" noGrp="1"/>
          </p:cNvSpPr>
          <p:nvPr/>
        </p:nvSpPr>
        <p:spPr>
          <a:xfrm xmlns:a="http://schemas.openxmlformats.org/drawingml/2006/main">
            <a:off x="685800" y="585787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000000"/>
                </a:solidFill>
                <a:latin typeface="Arial"/>
                <a:ea typeface="Arial"/>
                <a:cs typeface="Arial"/>
              </a:defRPr>
            </a:defPPr>
          </a:lstStyle>
          <a:p xmlns:a="http://schemas.openxmlformats.org/drawingml/2006/main">
            <a:pPr>
              <a:defRPr sz="1725" b="0">
                <a:solidFill>
                  <a:srgbClr val="000000"/>
                </a:solidFill>
                <a:latin typeface="Arial"/>
                <a:ea typeface="Arial"/>
                <a:cs typeface="Arial"/>
              </a:defRPr>
            </a:pPr>
            <a:r>
              <a:rPr sz="1725" b="0">
                <a:solidFill>
                  <a:srgbClr val="000000"/>
                </a:solidFill>
                <a:latin typeface="Arial"/>
                <a:ea typeface="Arial"/>
                <a:cs typeface="Arial"/>
              </a:rPr>
              <a:t>RF_1: 180 árboles, profundidad 18, mínimo 30 por hoja.</a:t>
            </a:r>
          </a:p>
        </p:txBody>
      </p:sp>
    </p:spTree>
    <p:extLst>
      <p:ext uri="{BB962C8B-B14F-4D97-AF65-F5344CB8AC3E}">
        <p14:creationId xmlns:p14="http://schemas.microsoft.com/office/powerpoint/2010/main" val="4142888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11F2C7F-AF1F-4AE3-A6B9-3914D691B6EE}"/>
              </a:ext>
            </a:extLst>
          </p:cNvPr>
          <p:cNvSpPr>
            <a:spLocks xmlns:a="http://schemas.openxmlformats.org/drawingml/2006/main" noGrp="1"/>
          </p:cNvSpPr>
          <p:nvPr/>
        </p:nvSpPr>
        <p:spPr>
          <a:xfrm xmlns:a="http://schemas.openxmlformats.org/drawingml/2006/main">
            <a:off x="685800" y="4286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0000"/>
                </a:solidFill>
                <a:latin typeface="Arial"/>
                <a:ea typeface="Arial"/>
                <a:cs typeface="Arial"/>
              </a:defRPr>
            </a:defPPr>
          </a:lstStyle>
          <a:p xmlns:a="http://schemas.openxmlformats.org/drawingml/2006/main">
            <a:pPr>
              <a:defRPr sz="3300" b="1">
                <a:solidFill>
                  <a:srgbClr val="000000"/>
                </a:solidFill>
                <a:latin typeface="Arial"/>
                <a:ea typeface="Arial"/>
                <a:cs typeface="Arial"/>
              </a:defRPr>
            </a:pPr>
            <a:r>
              <a:rPr sz="3300" b="1">
                <a:solidFill>
                  <a:srgbClr val="000000"/>
                </a:solidFill>
                <a:latin typeface="Arial"/>
                <a:ea typeface="Arial"/>
                <a:cs typeface="Arial"/>
              </a:rPr>
              <a:t>XGBoost y ajuste de configuraciones</a:t>
            </a:r>
          </a:p>
        </p:txBody>
      </p:sp>
      <p:graphicFrame>
        <p:nvGraphicFramePr>
          <p:cNvPr id="2" name="Chart">
            <a:extLst xmlns:a="http://schemas.openxmlformats.org/drawingml/2006/main">
              <a:ext uri="{FF2B5EF4-FFF2-40B4-BE49-F238E27FC236}">
                <a16:creationId xmlns:a16="http://schemas.microsoft.com/office/drawing/2014/main" id="{915733F9-9DDA-4DAB-8A60-20DA1EF2836B}"/>
              </a:ext>
            </a:extLst>
          </p:cNvPr>
          <p:cNvGraphicFramePr/>
          <p:nvPr/>
        </p:nvGraphicFramePr>
        <p:xfrm>
          <a:off xmlns:a="http://schemas.openxmlformats.org/drawingml/2006/main" x="685800" y="1571625"/>
          <a:ext xmlns:a="http://schemas.openxmlformats.org/drawingml/2006/main" cx="10820400" cy="4000500"/>
        </p:xfrm>
        <a:graphic xmlns:a="http://schemas.openxmlformats.org/drawingml/2006/main">
          <a:graphicData uri="http://schemas.openxmlformats.org/drawingml/2006/chart">
            <c:chart xmlns:r="http://schemas.openxmlformats.org/officeDocument/2006/relationships" xmlns:c="http://schemas.openxmlformats.org/drawingml/2006/chart" r:id="R4bdd09524be44faf"/>
          </a:graphicData>
        </a:graphic>
      </p:graphicFrame>
      <p:sp>
        <p:nvSpPr>
          <p:cNvPr id="3" name="">
            <a:extLst xmlns:a="http://schemas.openxmlformats.org/drawingml/2006/main">
              <a:ext uri="{FF2B5EF4-FFF2-40B4-BE49-F238E27FC236}">
                <a16:creationId xmlns:a16="http://schemas.microsoft.com/office/drawing/2014/main" id="{DD48A8A5-CE24-4F92-9227-FF221B3CDF9E}"/>
              </a:ext>
            </a:extLst>
          </p:cNvPr>
          <p:cNvSpPr>
            <a:spLocks xmlns:a="http://schemas.openxmlformats.org/drawingml/2006/main" noGrp="1"/>
          </p:cNvSpPr>
          <p:nvPr/>
        </p:nvSpPr>
        <p:spPr>
          <a:xfrm xmlns:a="http://schemas.openxmlformats.org/drawingml/2006/main">
            <a:off x="685800" y="585787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000000"/>
                </a:solidFill>
                <a:latin typeface="Arial"/>
                <a:ea typeface="Arial"/>
                <a:cs typeface="Arial"/>
              </a:defRPr>
            </a:defPPr>
          </a:lstStyle>
          <a:p xmlns:a="http://schemas.openxmlformats.org/drawingml/2006/main">
            <a:pPr>
              <a:defRPr sz="1725" b="0">
                <a:solidFill>
                  <a:srgbClr val="000000"/>
                </a:solidFill>
                <a:latin typeface="Arial"/>
                <a:ea typeface="Arial"/>
                <a:cs typeface="Arial"/>
              </a:defRPr>
            </a:pPr>
            <a:r>
              <a:rPr sz="1725" b="0">
                <a:solidFill>
                  <a:srgbClr val="000000"/>
                </a:solidFill>
                <a:latin typeface="Arial"/>
                <a:ea typeface="Arial"/>
                <a:cs typeface="Arial"/>
              </a:rPr>
              <a:t>XGB_1: profundidad 4, tasa 0.06 y 552 iteraciones.</a:t>
            </a:r>
          </a:p>
        </p:txBody>
      </p:sp>
    </p:spTree>
    <p:extLst>
      <p:ext uri="{BB962C8B-B14F-4D97-AF65-F5344CB8AC3E}">
        <p14:creationId xmlns:p14="http://schemas.microsoft.com/office/powerpoint/2010/main" val="70287611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DC3CD03-D2A8-40B0-9FB0-F483A5EB037E}"/>
              </a:ext>
            </a:extLst>
          </p:cNvPr>
          <p:cNvSpPr>
            <a:spLocks xmlns:a="http://schemas.openxmlformats.org/drawingml/2006/main" noGrp="1"/>
          </p:cNvSpPr>
          <p:nvPr/>
        </p:nvSpPr>
        <p:spPr>
          <a:xfrm xmlns:a="http://schemas.openxmlformats.org/drawingml/2006/main">
            <a:off x="685800" y="4286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0000"/>
                </a:solidFill>
                <a:latin typeface="Arial"/>
                <a:ea typeface="Arial"/>
                <a:cs typeface="Arial"/>
              </a:defRPr>
            </a:defPPr>
          </a:lstStyle>
          <a:p xmlns:a="http://schemas.openxmlformats.org/drawingml/2006/main">
            <a:pPr>
              <a:defRPr sz="3300" b="1">
                <a:solidFill>
                  <a:srgbClr val="000000"/>
                </a:solidFill>
                <a:latin typeface="Arial"/>
                <a:ea typeface="Arial"/>
                <a:cs typeface="Arial"/>
              </a:defRPr>
            </a:pPr>
            <a:r>
              <a:rPr sz="3300" b="1">
                <a:solidFill>
                  <a:srgbClr val="000000"/>
                </a:solidFill>
                <a:latin typeface="Arial"/>
                <a:ea typeface="Arial"/>
                <a:cs typeface="Arial"/>
              </a:rPr>
              <a:t>LSTM y parada temprana</a:t>
            </a:r>
          </a:p>
        </p:txBody>
      </p:sp>
      <p:graphicFrame>
        <p:nvGraphicFramePr>
          <p:cNvPr id="2" name="Chart">
            <a:extLst xmlns:a="http://schemas.openxmlformats.org/drawingml/2006/main">
              <a:ext uri="{FF2B5EF4-FFF2-40B4-BE49-F238E27FC236}">
                <a16:creationId xmlns:a16="http://schemas.microsoft.com/office/drawing/2014/main" id="{CA7741EF-5A44-4739-8CDF-79A8BFBA4199}"/>
              </a:ext>
            </a:extLst>
          </p:cNvPr>
          <p:cNvGraphicFramePr/>
          <p:nvPr/>
        </p:nvGraphicFramePr>
        <p:xfrm>
          <a:off xmlns:a="http://schemas.openxmlformats.org/drawingml/2006/main" x="685800" y="1571625"/>
          <a:ext xmlns:a="http://schemas.openxmlformats.org/drawingml/2006/main" cx="10820400" cy="4000500"/>
        </p:xfrm>
        <a:graphic xmlns:a="http://schemas.openxmlformats.org/drawingml/2006/main">
          <a:graphicData uri="http://schemas.openxmlformats.org/drawingml/2006/chart">
            <c:chart xmlns:r="http://schemas.openxmlformats.org/officeDocument/2006/relationships" xmlns:c="http://schemas.openxmlformats.org/drawingml/2006/chart" r:id="R32d4d68fcea24b7b"/>
          </a:graphicData>
        </a:graphic>
      </p:graphicFrame>
      <p:sp>
        <p:nvSpPr>
          <p:cNvPr id="3" name="">
            <a:extLst xmlns:a="http://schemas.openxmlformats.org/drawingml/2006/main">
              <a:ext uri="{FF2B5EF4-FFF2-40B4-BE49-F238E27FC236}">
                <a16:creationId xmlns:a16="http://schemas.microsoft.com/office/drawing/2014/main" id="{F4A2F578-1D93-4143-852A-CA765B461052}"/>
              </a:ext>
            </a:extLst>
          </p:cNvPr>
          <p:cNvSpPr>
            <a:spLocks xmlns:a="http://schemas.openxmlformats.org/drawingml/2006/main" noGrp="1"/>
          </p:cNvSpPr>
          <p:nvPr/>
        </p:nvSpPr>
        <p:spPr>
          <a:xfrm xmlns:a="http://schemas.openxmlformats.org/drawingml/2006/main">
            <a:off x="685800" y="585787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000000"/>
                </a:solidFill>
                <a:latin typeface="Arial"/>
                <a:ea typeface="Arial"/>
                <a:cs typeface="Arial"/>
              </a:defRPr>
            </a:defPPr>
          </a:lstStyle>
          <a:p xmlns:a="http://schemas.openxmlformats.org/drawingml/2006/main">
            <a:pPr>
              <a:defRPr sz="1725" b="0">
                <a:solidFill>
                  <a:srgbClr val="000000"/>
                </a:solidFill>
                <a:latin typeface="Arial"/>
                <a:ea typeface="Arial"/>
                <a:cs typeface="Arial"/>
              </a:defRPr>
            </a:pPr>
            <a:r>
              <a:rPr sz="1725" b="0">
                <a:solidFill>
                  <a:srgbClr val="000000"/>
                </a:solidFill>
                <a:latin typeface="Arial"/>
                <a:ea typeface="Arial"/>
                <a:cs typeface="Arial"/>
              </a:rPr>
              <a:t>LSTM_3: 64 unidades LSTM, 64 densas, dropout 0.25 y 1 época seleccionada.</a:t>
            </a:r>
          </a:p>
        </p:txBody>
      </p:sp>
    </p:spTree>
    <p:extLst>
      <p:ext uri="{BB962C8B-B14F-4D97-AF65-F5344CB8AC3E}">
        <p14:creationId xmlns:p14="http://schemas.microsoft.com/office/powerpoint/2010/main" val="153998664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B313E12-C4CC-40DA-BB45-24CF9BCE912A}"/>
              </a:ext>
            </a:extLst>
          </p:cNvPr>
          <p:cNvSpPr>
            <a:spLocks xmlns:a="http://schemas.openxmlformats.org/drawingml/2006/main" noGrp="1"/>
          </p:cNvSpPr>
          <p:nvPr/>
        </p:nvSpPr>
        <p:spPr>
          <a:xfrm xmlns:a="http://schemas.openxmlformats.org/drawingml/2006/main">
            <a:off x="685800" y="4286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0000"/>
                </a:solidFill>
                <a:latin typeface="Arial"/>
                <a:ea typeface="Arial"/>
                <a:cs typeface="Arial"/>
              </a:defRPr>
            </a:defPPr>
          </a:lstStyle>
          <a:p xmlns:a="http://schemas.openxmlformats.org/drawingml/2006/main">
            <a:pPr>
              <a:defRPr sz="3300" b="1">
                <a:solidFill>
                  <a:srgbClr val="000000"/>
                </a:solidFill>
                <a:latin typeface="Arial"/>
                <a:ea typeface="Arial"/>
                <a:cs typeface="Arial"/>
              </a:defRPr>
            </a:pPr>
            <a:r>
              <a:rPr sz="3300" b="1">
                <a:solidFill>
                  <a:srgbClr val="000000"/>
                </a:solidFill>
                <a:latin typeface="Arial"/>
                <a:ea typeface="Arial"/>
                <a:cs typeface="Arial"/>
              </a:rPr>
              <a:t>Resultados de la prueba temporal reservada</a:t>
            </a:r>
          </a:p>
        </p:txBody>
      </p:sp>
      <p:graphicFrame>
        <p:nvGraphicFramePr>
          <p:cNvPr id="2" name="Chart">
            <a:extLst xmlns:a="http://schemas.openxmlformats.org/drawingml/2006/main">
              <a:ext uri="{FF2B5EF4-FFF2-40B4-BE49-F238E27FC236}">
                <a16:creationId xmlns:a16="http://schemas.microsoft.com/office/drawing/2014/main" id="{D732D10F-0097-4886-BACE-4C63B64EA3EB}"/>
              </a:ext>
            </a:extLst>
          </p:cNvPr>
          <p:cNvGraphicFramePr/>
          <p:nvPr/>
        </p:nvGraphicFramePr>
        <p:xfrm>
          <a:off xmlns:a="http://schemas.openxmlformats.org/drawingml/2006/main" x="685800" y="1571625"/>
          <a:ext xmlns:a="http://schemas.openxmlformats.org/drawingml/2006/main" cx="10820400" cy="4000500"/>
        </p:xfrm>
        <a:graphic xmlns:a="http://schemas.openxmlformats.org/drawingml/2006/main">
          <a:graphicData uri="http://schemas.openxmlformats.org/drawingml/2006/chart">
            <c:chart xmlns:r="http://schemas.openxmlformats.org/officeDocument/2006/relationships" xmlns:c="http://schemas.openxmlformats.org/drawingml/2006/chart" r:id="R9e51edd0ea96467b"/>
          </a:graphicData>
        </a:graphic>
      </p:graphicFrame>
      <p:sp>
        <p:nvSpPr>
          <p:cNvPr id="3" name="">
            <a:extLst xmlns:a="http://schemas.openxmlformats.org/drawingml/2006/main">
              <a:ext uri="{FF2B5EF4-FFF2-40B4-BE49-F238E27FC236}">
                <a16:creationId xmlns:a16="http://schemas.microsoft.com/office/drawing/2014/main" id="{72D8064B-9D9F-4239-AD29-A3562F442610}"/>
              </a:ext>
            </a:extLst>
          </p:cNvPr>
          <p:cNvSpPr>
            <a:spLocks xmlns:a="http://schemas.openxmlformats.org/drawingml/2006/main" noGrp="1"/>
          </p:cNvSpPr>
          <p:nvPr/>
        </p:nvSpPr>
        <p:spPr>
          <a:xfrm xmlns:a="http://schemas.openxmlformats.org/drawingml/2006/main">
            <a:off x="685800" y="585787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000000"/>
                </a:solidFill>
                <a:latin typeface="Arial"/>
                <a:ea typeface="Arial"/>
                <a:cs typeface="Arial"/>
              </a:defRPr>
            </a:defPPr>
          </a:lstStyle>
          <a:p xmlns:a="http://schemas.openxmlformats.org/drawingml/2006/main">
            <a:pPr>
              <a:defRPr sz="1725" b="0">
                <a:solidFill>
                  <a:srgbClr val="000000"/>
                </a:solidFill>
                <a:latin typeface="Arial"/>
                <a:ea typeface="Arial"/>
                <a:cs typeface="Arial"/>
              </a:defRPr>
            </a:pPr>
            <a:r>
              <a:rPr sz="1725" b="0">
                <a:solidFill>
                  <a:srgbClr val="000000"/>
                </a:solidFill>
                <a:latin typeface="Arial"/>
                <a:ea typeface="Arial"/>
                <a:cs typeface="Arial"/>
              </a:rPr>
              <a:t>Mejora frente a persistencia: RF 15.6 %, XGBoost 17.1 % y LSTM 17.6 %.</a:t>
            </a:r>
          </a:p>
        </p:txBody>
      </p:sp>
    </p:spTree>
    <p:extLst>
      <p:ext uri="{BB962C8B-B14F-4D97-AF65-F5344CB8AC3E}">
        <p14:creationId xmlns:p14="http://schemas.microsoft.com/office/powerpoint/2010/main" val="65095876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1D52DA3-67AF-47F6-8D35-0AABA0F13623}"/>
              </a:ext>
            </a:extLst>
          </p:cNvPr>
          <p:cNvSpPr>
            <a:spLocks xmlns:a="http://schemas.openxmlformats.org/drawingml/2006/main" noGrp="1"/>
          </p:cNvSpPr>
          <p:nvPr/>
        </p:nvSpPr>
        <p:spPr>
          <a:xfrm xmlns:a="http://schemas.openxmlformats.org/drawingml/2006/main">
            <a:off x="685800" y="4286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0000"/>
                </a:solidFill>
                <a:latin typeface="Arial"/>
                <a:ea typeface="Arial"/>
                <a:cs typeface="Arial"/>
              </a:defRPr>
            </a:defPPr>
          </a:lstStyle>
          <a:p xmlns:a="http://schemas.openxmlformats.org/drawingml/2006/main">
            <a:pPr>
              <a:defRPr sz="3300" b="1">
                <a:solidFill>
                  <a:srgbClr val="000000"/>
                </a:solidFill>
                <a:latin typeface="Arial"/>
                <a:ea typeface="Arial"/>
                <a:cs typeface="Arial"/>
              </a:defRPr>
            </a:pPr>
            <a:r>
              <a:rPr sz="3300" b="1">
                <a:solidFill>
                  <a:srgbClr val="000000"/>
                </a:solidFill>
                <a:latin typeface="Arial"/>
                <a:ea typeface="Arial"/>
                <a:cs typeface="Arial"/>
              </a:rPr>
              <a:t>Disponibilidad de TWS y precisión</a:t>
            </a:r>
          </a:p>
        </p:txBody>
      </p:sp>
      <p:graphicFrame>
        <p:nvGraphicFramePr>
          <p:cNvPr id="2" name="Chart">
            <a:extLst xmlns:a="http://schemas.openxmlformats.org/drawingml/2006/main">
              <a:ext uri="{FF2B5EF4-FFF2-40B4-BE49-F238E27FC236}">
                <a16:creationId xmlns:a16="http://schemas.microsoft.com/office/drawing/2014/main" id="{5C189F64-6C3A-43AD-86D6-3A503D71565D}"/>
              </a:ext>
            </a:extLst>
          </p:cNvPr>
          <p:cNvGraphicFramePr/>
          <p:nvPr/>
        </p:nvGraphicFramePr>
        <p:xfrm>
          <a:off xmlns:a="http://schemas.openxmlformats.org/drawingml/2006/main" x="685800" y="1571625"/>
          <a:ext xmlns:a="http://schemas.openxmlformats.org/drawingml/2006/main" cx="10820400" cy="4000500"/>
        </p:xfrm>
        <a:graphic xmlns:a="http://schemas.openxmlformats.org/drawingml/2006/main">
          <a:graphicData uri="http://schemas.openxmlformats.org/drawingml/2006/chart">
            <c:chart xmlns:r="http://schemas.openxmlformats.org/officeDocument/2006/relationships" xmlns:c="http://schemas.openxmlformats.org/drawingml/2006/chart" r:id="R9dbba822e4534d74"/>
          </a:graphicData>
        </a:graphic>
      </p:graphicFrame>
      <p:sp>
        <p:nvSpPr>
          <p:cNvPr id="3" name="">
            <a:extLst xmlns:a="http://schemas.openxmlformats.org/drawingml/2006/main">
              <a:ext uri="{FF2B5EF4-FFF2-40B4-BE49-F238E27FC236}">
                <a16:creationId xmlns:a16="http://schemas.microsoft.com/office/drawing/2014/main" id="{E429616E-DA22-4B07-98D2-DB9D05C1A4E3}"/>
              </a:ext>
            </a:extLst>
          </p:cNvPr>
          <p:cNvSpPr>
            <a:spLocks xmlns:a="http://schemas.openxmlformats.org/drawingml/2006/main" noGrp="1"/>
          </p:cNvSpPr>
          <p:nvPr/>
        </p:nvSpPr>
        <p:spPr>
          <a:xfrm xmlns:a="http://schemas.openxmlformats.org/drawingml/2006/main">
            <a:off x="685800" y="585787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000000"/>
                </a:solidFill>
                <a:latin typeface="Arial"/>
                <a:ea typeface="Arial"/>
                <a:cs typeface="Arial"/>
              </a:defRPr>
            </a:defPPr>
          </a:lstStyle>
          <a:p xmlns:a="http://schemas.openxmlformats.org/drawingml/2006/main">
            <a:pPr>
              <a:defRPr sz="1725" b="0">
                <a:solidFill>
                  <a:srgbClr val="000000"/>
                </a:solidFill>
                <a:latin typeface="Arial"/>
                <a:ea typeface="Arial"/>
                <a:cs typeface="Arial"/>
              </a:defRPr>
            </a:pPr>
            <a:r>
              <a:rPr sz="1725" b="0">
                <a:solidFill>
                  <a:srgbClr val="000000"/>
                </a:solidFill>
                <a:latin typeface="Arial"/>
                <a:ea typeface="Arial"/>
                <a:cs typeface="Arial"/>
              </a:rPr>
              <a:t>Se conservan la última observación conocida, su antigüedad y los indicadores de faltantes. La historia nunca se reconstruye con etiquetas ocultas.</a:t>
            </a:r>
          </a:p>
        </p:txBody>
      </p:sp>
    </p:spTree>
    <p:extLst>
      <p:ext uri="{BB962C8B-B14F-4D97-AF65-F5344CB8AC3E}">
        <p14:creationId xmlns:p14="http://schemas.microsoft.com/office/powerpoint/2010/main" val="171018833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6E6A9CA-BFA3-4942-8CC4-5E78F0C51D39}"/>
              </a:ext>
            </a:extLst>
          </p:cNvPr>
          <p:cNvSpPr>
            <a:spLocks xmlns:a="http://schemas.openxmlformats.org/drawingml/2006/main" noGrp="1"/>
          </p:cNvSpPr>
          <p:nvPr/>
        </p:nvSpPr>
        <p:spPr>
          <a:xfrm xmlns:a="http://schemas.openxmlformats.org/drawingml/2006/main">
            <a:off x="685800" y="4286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0000"/>
                </a:solidFill>
                <a:latin typeface="Arial"/>
                <a:ea typeface="Arial"/>
                <a:cs typeface="Arial"/>
              </a:defRPr>
            </a:defPPr>
          </a:lstStyle>
          <a:p xmlns:a="http://schemas.openxmlformats.org/drawingml/2006/main">
            <a:pPr>
              <a:defRPr sz="3300" b="1">
                <a:solidFill>
                  <a:srgbClr val="000000"/>
                </a:solidFill>
                <a:latin typeface="Arial"/>
                <a:ea typeface="Arial"/>
                <a:cs typeface="Arial"/>
              </a:defRPr>
            </a:pPr>
            <a:r>
              <a:rPr sz="3300" b="1">
                <a:solidFill>
                  <a:srgbClr val="000000"/>
                </a:solidFill>
                <a:latin typeface="Arial"/>
                <a:ea typeface="Arial"/>
                <a:cs typeface="Arial"/>
              </a:rPr>
              <a:t>El error cambia entre regiones</a:t>
            </a:r>
          </a:p>
        </p:txBody>
      </p:sp>
      <p:graphicFrame>
        <p:nvGraphicFramePr>
          <p:cNvPr id="2" name="Chart">
            <a:extLst xmlns:a="http://schemas.openxmlformats.org/drawingml/2006/main">
              <a:ext uri="{FF2B5EF4-FFF2-40B4-BE49-F238E27FC236}">
                <a16:creationId xmlns:a16="http://schemas.microsoft.com/office/drawing/2014/main" id="{53F1D24C-6E81-49B1-8A19-7F05CDAAD338}"/>
              </a:ext>
            </a:extLst>
          </p:cNvPr>
          <p:cNvGraphicFramePr/>
          <p:nvPr/>
        </p:nvGraphicFramePr>
        <p:xfrm>
          <a:off xmlns:a="http://schemas.openxmlformats.org/drawingml/2006/main" x="685800" y="1571625"/>
          <a:ext xmlns:a="http://schemas.openxmlformats.org/drawingml/2006/main" cx="10820400" cy="4000500"/>
        </p:xfrm>
        <a:graphic xmlns:a="http://schemas.openxmlformats.org/drawingml/2006/main">
          <a:graphicData uri="http://schemas.openxmlformats.org/drawingml/2006/chart">
            <c:chart xmlns:r="http://schemas.openxmlformats.org/officeDocument/2006/relationships" xmlns:c="http://schemas.openxmlformats.org/drawingml/2006/chart" r:id="R8a87103c5d454e0a"/>
          </a:graphicData>
        </a:graphic>
      </p:graphicFrame>
      <p:sp>
        <p:nvSpPr>
          <p:cNvPr id="3" name="">
            <a:extLst xmlns:a="http://schemas.openxmlformats.org/drawingml/2006/main">
              <a:ext uri="{FF2B5EF4-FFF2-40B4-BE49-F238E27FC236}">
                <a16:creationId xmlns:a16="http://schemas.microsoft.com/office/drawing/2014/main" id="{D367FC6C-ABF6-461B-A17A-831065ED5CBB}"/>
              </a:ext>
            </a:extLst>
          </p:cNvPr>
          <p:cNvSpPr>
            <a:spLocks xmlns:a="http://schemas.openxmlformats.org/drawingml/2006/main" noGrp="1"/>
          </p:cNvSpPr>
          <p:nvPr/>
        </p:nvSpPr>
        <p:spPr>
          <a:xfrm xmlns:a="http://schemas.openxmlformats.org/drawingml/2006/main">
            <a:off x="685800" y="585787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000000"/>
                </a:solidFill>
                <a:latin typeface="Arial"/>
                <a:ea typeface="Arial"/>
                <a:cs typeface="Arial"/>
              </a:defRPr>
            </a:defPPr>
          </a:lstStyle>
          <a:p xmlns:a="http://schemas.openxmlformats.org/drawingml/2006/main">
            <a:pPr>
              <a:defRPr sz="1725" b="0">
                <a:solidFill>
                  <a:srgbClr val="000000"/>
                </a:solidFill>
                <a:latin typeface="Arial"/>
                <a:ea typeface="Arial"/>
                <a:cs typeface="Arial"/>
              </a:defRPr>
            </a:pPr>
            <a:r>
              <a:rPr sz="1725" b="0">
                <a:solidFill>
                  <a:srgbClr val="000000"/>
                </a:solidFill>
                <a:latin typeface="Arial"/>
                <a:ea typeface="Arial"/>
                <a:cs typeface="Arial"/>
              </a:rPr>
              <a:t>La evaluación regional complementa el RMSE agrupado del reto. La transferencia a regiones completamente nuevas requiere otra validación.</a:t>
            </a:r>
          </a:p>
        </p:txBody>
      </p:sp>
    </p:spTree>
    <p:extLst>
      <p:ext uri="{BB962C8B-B14F-4D97-AF65-F5344CB8AC3E}">
        <p14:creationId xmlns:p14="http://schemas.microsoft.com/office/powerpoint/2010/main" val="43263198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AF6057B-1112-4432-A284-37C219793CF8}"/>
              </a:ext>
            </a:extLst>
          </p:cNvPr>
          <p:cNvSpPr>
            <a:spLocks xmlns:a="http://schemas.openxmlformats.org/drawingml/2006/main" noGrp="1"/>
          </p:cNvSpPr>
          <p:nvPr/>
        </p:nvSpPr>
        <p:spPr>
          <a:xfrm xmlns:a="http://schemas.openxmlformats.org/drawingml/2006/main">
            <a:off x="685800" y="4286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0000"/>
                </a:solidFill>
                <a:latin typeface="Arial"/>
                <a:ea typeface="Arial"/>
                <a:cs typeface="Arial"/>
              </a:defRPr>
            </a:defPPr>
          </a:lstStyle>
          <a:p xmlns:a="http://schemas.openxmlformats.org/drawingml/2006/main">
            <a:pPr>
              <a:defRPr sz="3300" b="1">
                <a:solidFill>
                  <a:srgbClr val="000000"/>
                </a:solidFill>
                <a:latin typeface="Arial"/>
                <a:ea typeface="Arial"/>
                <a:cs typeface="Arial"/>
              </a:defRPr>
            </a:pPr>
            <a:r>
              <a:rPr sz="3300" b="1">
                <a:solidFill>
                  <a:srgbClr val="000000"/>
                </a:solidFill>
                <a:latin typeface="Arial"/>
                <a:ea typeface="Arial"/>
                <a:cs typeface="Arial"/>
              </a:rPr>
              <a:t>Eficiencia e incertidumbre de la comparación</a:t>
            </a:r>
          </a:p>
        </p:txBody>
      </p:sp>
      <p:graphicFrame>
        <p:nvGraphicFramePr>
          <p:cNvPr id="2" name="">
            <a:extLst xmlns:a="http://schemas.openxmlformats.org/drawingml/2006/main">
              <a:ext uri="{FF2B5EF4-FFF2-40B4-BE49-F238E27FC236}">
                <a16:creationId xmlns:a16="http://schemas.microsoft.com/office/drawing/2014/main" id="{4E63AB17-E3D1-40CC-A53E-4F6E7735DFDD}"/>
              </a:ext>
            </a:extLst>
          </p:cNvPr>
          <p:cNvGraphicFramePr/>
          <p:nvPr/>
        </p:nvGraphicFramePr>
        <p:xfrm>
          <a:off xmlns:a="http://schemas.openxmlformats.org/drawingml/2006/main" x="685800" y="1571625"/>
          <a:ext xmlns:a="http://schemas.openxmlformats.org/drawingml/2006/main" cx="10820400" cy="2952750"/>
        </p:xfrm>
        <a:graphic xmlns:a="http://schemas.openxmlformats.org/drawingml/2006/main">
          <a:graphicData uri="http://schemas.openxmlformats.org/drawingml/2006/table">
            <a:tbl>
              <a:tblPr/>
              <a:tblGrid>
                <a:gridCol w="3333750"/>
                <a:gridCol w="2190750"/>
                <a:gridCol w="2476500"/>
                <a:gridCol w="2819400"/>
              </a:tblGrid>
              <a:tr h="738188">
                <a:tc>
                  <a:txBody>
                    <a:bodyPr/>
                    <a:lstStyle/>
                    <a:p>
                      <a:r>
                        <a:rPr sz="1800" b="1">
                          <a:solidFill>
                            <a:srgbClr val="000000"/>
                          </a:solidFill>
                          <a:latin typeface="Arial"/>
                          <a:ea typeface="Arial"/>
                          <a:cs typeface="Arial"/>
                        </a:rPr>
                        <a:t>Algoritmo</a:t>
                      </a:r>
                    </a:p>
                  </a:txBody>
                  <a:tcPr marL="114300" marR="114300" marT="95250" marB="95250" anchor="ctr">
                    <a:solidFill>
                      <a:srgbClr val="FFFFFF"/>
                    </a:solidFill>
                  </a:tcPr>
                </a:tc>
                <a:tc>
                  <a:txBody>
                    <a:bodyPr/>
                    <a:lstStyle/>
                    <a:p>
                      <a:r>
                        <a:rPr sz="1800" b="1">
                          <a:solidFill>
                            <a:srgbClr val="000000"/>
                          </a:solidFill>
                          <a:latin typeface="Arial"/>
                          <a:ea typeface="Arial"/>
                          <a:cs typeface="Arial"/>
                        </a:rPr>
                        <a:t>RMSE</a:t>
                      </a:r>
                    </a:p>
                  </a:txBody>
                  <a:tcPr marL="114300" marR="114300" marT="95250" marB="95250" anchor="ctr">
                    <a:solidFill>
                      <a:srgbClr val="FFFFFF"/>
                    </a:solidFill>
                  </a:tcPr>
                </a:tc>
                <a:tc>
                  <a:txBody>
                    <a:bodyPr/>
                    <a:lstStyle/>
                    <a:p>
                      <a:r>
                        <a:rPr sz="1800" b="1">
                          <a:solidFill>
                            <a:srgbClr val="000000"/>
                          </a:solidFill>
                          <a:latin typeface="Arial"/>
                          <a:ea typeface="Arial"/>
                          <a:cs typeface="Arial"/>
                        </a:rPr>
                        <a:t>Ajuste s</a:t>
                      </a:r>
                    </a:p>
                  </a:txBody>
                  <a:tcPr marL="114300" marR="114300" marT="95250" marB="95250" anchor="ctr">
                    <a:solidFill>
                      <a:srgbClr val="FFFFFF"/>
                    </a:solidFill>
                  </a:tcPr>
                </a:tc>
                <a:tc>
                  <a:txBody>
                    <a:bodyPr/>
                    <a:lstStyle/>
                    <a:p>
                      <a:r>
                        <a:rPr sz="1800" b="1">
                          <a:solidFill>
                            <a:srgbClr val="000000"/>
                          </a:solidFill>
                          <a:latin typeface="Arial"/>
                          <a:ea typeface="Arial"/>
                          <a:cs typeface="Arial"/>
                        </a:rPr>
                        <a:t>ms / 1 000 filas</a:t>
                      </a:r>
                    </a:p>
                  </a:txBody>
                  <a:tcPr marL="114300" marR="114300" marT="95250" marB="95250" anchor="ctr">
                    <a:solidFill>
                      <a:srgbClr val="FFFFFF"/>
                    </a:solidFill>
                  </a:tcPr>
                </a:tc>
              </a:tr>
              <a:tr h="738188">
                <a:tc>
                  <a:txBody>
                    <a:bodyPr/>
                    <a:lstStyle/>
                    <a:p>
                      <a:r>
                        <a:rPr sz="1800">
                          <a:solidFill>
                            <a:srgbClr val="000000"/>
                          </a:solidFill>
                          <a:latin typeface="Arial"/>
                          <a:ea typeface="Arial"/>
                          <a:cs typeface="Arial"/>
                        </a:rPr>
                        <a:t>Random Forest</a:t>
                      </a:r>
                    </a:p>
                  </a:txBody>
                  <a:tcPr marL="114300" marR="114300" marT="95250" marB="95250" anchor="ctr">
                    <a:solidFill>
                      <a:srgbClr val="FFFFFF"/>
                    </a:solidFill>
                  </a:tcPr>
                </a:tc>
                <a:tc>
                  <a:txBody>
                    <a:bodyPr/>
                    <a:lstStyle/>
                    <a:p>
                      <a:r>
                        <a:rPr sz="1800">
                          <a:solidFill>
                            <a:srgbClr val="000000"/>
                          </a:solidFill>
                          <a:latin typeface="Arial"/>
                          <a:ea typeface="Arial"/>
                          <a:cs typeface="Arial"/>
                        </a:rPr>
                        <a:t>0.7162</a:t>
                      </a:r>
                    </a:p>
                  </a:txBody>
                  <a:tcPr marL="114300" marR="114300" marT="95250" marB="95250" anchor="ctr">
                    <a:solidFill>
                      <a:srgbClr val="FFFFFF"/>
                    </a:solidFill>
                  </a:tcPr>
                </a:tc>
                <a:tc>
                  <a:txBody>
                    <a:bodyPr/>
                    <a:lstStyle/>
                    <a:p>
                      <a:r>
                        <a:rPr sz="1800">
                          <a:solidFill>
                            <a:srgbClr val="000000"/>
                          </a:solidFill>
                          <a:latin typeface="Arial"/>
                          <a:ea typeface="Arial"/>
                          <a:cs typeface="Arial"/>
                        </a:rPr>
                        <a:t>247.2</a:t>
                      </a:r>
                    </a:p>
                  </a:txBody>
                  <a:tcPr marL="114300" marR="114300" marT="95250" marB="95250" anchor="ctr">
                    <a:solidFill>
                      <a:srgbClr val="FFFFFF"/>
                    </a:solidFill>
                  </a:tcPr>
                </a:tc>
                <a:tc>
                  <a:txBody>
                    <a:bodyPr/>
                    <a:lstStyle/>
                    <a:p>
                      <a:r>
                        <a:rPr sz="1800">
                          <a:solidFill>
                            <a:srgbClr val="000000"/>
                          </a:solidFill>
                          <a:latin typeface="Arial"/>
                          <a:ea typeface="Arial"/>
                          <a:cs typeface="Arial"/>
                        </a:rPr>
                        <a:t>3.08</a:t>
                      </a:r>
                    </a:p>
                  </a:txBody>
                  <a:tcPr marL="114300" marR="114300" marT="95250" marB="95250" anchor="ctr">
                    <a:solidFill>
                      <a:srgbClr val="FFFFFF"/>
                    </a:solidFill>
                  </a:tcPr>
                </a:tc>
              </a:tr>
              <a:tr h="738188">
                <a:tc>
                  <a:txBody>
                    <a:bodyPr/>
                    <a:lstStyle/>
                    <a:p>
                      <a:r>
                        <a:rPr sz="1800">
                          <a:solidFill>
                            <a:srgbClr val="000000"/>
                          </a:solidFill>
                          <a:latin typeface="Arial"/>
                          <a:ea typeface="Arial"/>
                          <a:cs typeface="Arial"/>
                        </a:rPr>
                        <a:t>XGBoost</a:t>
                      </a:r>
                    </a:p>
                  </a:txBody>
                  <a:tcPr marL="114300" marR="114300" marT="95250" marB="95250" anchor="ctr">
                    <a:solidFill>
                      <a:srgbClr val="FFFFFF"/>
                    </a:solidFill>
                  </a:tcPr>
                </a:tc>
                <a:tc>
                  <a:txBody>
                    <a:bodyPr/>
                    <a:lstStyle/>
                    <a:p>
                      <a:r>
                        <a:rPr sz="1800">
                          <a:solidFill>
                            <a:srgbClr val="000000"/>
                          </a:solidFill>
                          <a:latin typeface="Arial"/>
                          <a:ea typeface="Arial"/>
                          <a:cs typeface="Arial"/>
                        </a:rPr>
                        <a:t>0.7035</a:t>
                      </a:r>
                    </a:p>
                  </a:txBody>
                  <a:tcPr marL="114300" marR="114300" marT="95250" marB="95250" anchor="ctr">
                    <a:solidFill>
                      <a:srgbClr val="FFFFFF"/>
                    </a:solidFill>
                  </a:tcPr>
                </a:tc>
                <a:tc>
                  <a:txBody>
                    <a:bodyPr/>
                    <a:lstStyle/>
                    <a:p>
                      <a:r>
                        <a:rPr sz="1800">
                          <a:solidFill>
                            <a:srgbClr val="000000"/>
                          </a:solidFill>
                          <a:latin typeface="Arial"/>
                          <a:ea typeface="Arial"/>
                          <a:cs typeface="Arial"/>
                        </a:rPr>
                        <a:t>23.6</a:t>
                      </a:r>
                    </a:p>
                  </a:txBody>
                  <a:tcPr marL="114300" marR="114300" marT="95250" marB="95250" anchor="ctr">
                    <a:solidFill>
                      <a:srgbClr val="FFFFFF"/>
                    </a:solidFill>
                  </a:tcPr>
                </a:tc>
                <a:tc>
                  <a:txBody>
                    <a:bodyPr/>
                    <a:lstStyle/>
                    <a:p>
                      <a:r>
                        <a:rPr sz="1800">
                          <a:solidFill>
                            <a:srgbClr val="000000"/>
                          </a:solidFill>
                          <a:latin typeface="Arial"/>
                          <a:ea typeface="Arial"/>
                          <a:cs typeface="Arial"/>
                        </a:rPr>
                        <a:t>1.13</a:t>
                      </a:r>
                    </a:p>
                  </a:txBody>
                  <a:tcPr marL="114300" marR="114300" marT="95250" marB="95250" anchor="ctr">
                    <a:solidFill>
                      <a:srgbClr val="FFFFFF"/>
                    </a:solidFill>
                  </a:tcPr>
                </a:tc>
              </a:tr>
              <a:tr h="738188">
                <a:tc>
                  <a:txBody>
                    <a:bodyPr/>
                    <a:lstStyle/>
                    <a:p>
                      <a:r>
                        <a:rPr sz="1800">
                          <a:solidFill>
                            <a:srgbClr val="000000"/>
                          </a:solidFill>
                          <a:latin typeface="Arial"/>
                          <a:ea typeface="Arial"/>
                          <a:cs typeface="Arial"/>
                        </a:rPr>
                        <a:t>LSTM</a:t>
                      </a:r>
                    </a:p>
                  </a:txBody>
                  <a:tcPr marL="114300" marR="114300" marT="95250" marB="95250" anchor="ctr">
                    <a:solidFill>
                      <a:srgbClr val="FFFFFF"/>
                    </a:solidFill>
                  </a:tcPr>
                </a:tc>
                <a:tc>
                  <a:txBody>
                    <a:bodyPr/>
                    <a:lstStyle/>
                    <a:p>
                      <a:r>
                        <a:rPr sz="1800">
                          <a:solidFill>
                            <a:srgbClr val="000000"/>
                          </a:solidFill>
                          <a:latin typeface="Arial"/>
                          <a:ea typeface="Arial"/>
                          <a:cs typeface="Arial"/>
                        </a:rPr>
                        <a:t>0.6989</a:t>
                      </a:r>
                    </a:p>
                  </a:txBody>
                  <a:tcPr marL="114300" marR="114300" marT="95250" marB="95250" anchor="ctr">
                    <a:solidFill>
                      <a:srgbClr val="FFFFFF"/>
                    </a:solidFill>
                  </a:tcPr>
                </a:tc>
                <a:tc>
                  <a:txBody>
                    <a:bodyPr/>
                    <a:lstStyle/>
                    <a:p>
                      <a:r>
                        <a:rPr sz="1800">
                          <a:solidFill>
                            <a:srgbClr val="000000"/>
                          </a:solidFill>
                          <a:latin typeface="Arial"/>
                          <a:ea typeface="Arial"/>
                          <a:cs typeface="Arial"/>
                        </a:rPr>
                        <a:t>18.3</a:t>
                      </a:r>
                    </a:p>
                  </a:txBody>
                  <a:tcPr marL="114300" marR="114300" marT="95250" marB="95250" anchor="ctr">
                    <a:solidFill>
                      <a:srgbClr val="FFFFFF"/>
                    </a:solidFill>
                  </a:tcPr>
                </a:tc>
                <a:tc>
                  <a:txBody>
                    <a:bodyPr/>
                    <a:lstStyle/>
                    <a:p>
                      <a:r>
                        <a:rPr sz="1800">
                          <a:solidFill>
                            <a:srgbClr val="000000"/>
                          </a:solidFill>
                          <a:latin typeface="Arial"/>
                          <a:ea typeface="Arial"/>
                          <a:cs typeface="Arial"/>
                        </a:rPr>
                        <a:t>2.76</a:t>
                      </a:r>
                    </a:p>
                  </a:txBody>
                  <a:tcPr marL="114300" marR="114300" marT="95250" marB="95250" anchor="ctr">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F786B57-1E2C-4ED9-8B55-9B98DFD001FF}"/>
              </a:ext>
            </a:extLst>
          </p:cNvPr>
          <p:cNvSpPr>
            <a:spLocks xmlns:a="http://schemas.openxmlformats.org/drawingml/2006/main" noGrp="1"/>
          </p:cNvSpPr>
          <p:nvPr/>
        </p:nvSpPr>
        <p:spPr>
          <a:xfrm xmlns:a="http://schemas.openxmlformats.org/drawingml/2006/main">
            <a:off x="685800" y="585787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000000"/>
                </a:solidFill>
                <a:latin typeface="Arial"/>
                <a:ea typeface="Arial"/>
                <a:cs typeface="Arial"/>
              </a:defRPr>
            </a:defPPr>
          </a:lstStyle>
          <a:p xmlns:a="http://schemas.openxmlformats.org/drawingml/2006/main">
            <a:pPr>
              <a:defRPr sz="1725" b="0">
                <a:solidFill>
                  <a:srgbClr val="000000"/>
                </a:solidFill>
                <a:latin typeface="Arial"/>
                <a:ea typeface="Arial"/>
                <a:cs typeface="Arial"/>
              </a:defRPr>
            </a:pPr>
            <a:r>
              <a:rPr sz="1725" b="0">
                <a:solidFill>
                  <a:srgbClr val="000000"/>
                </a:solidFill>
                <a:latin typeface="Arial"/>
                <a:ea typeface="Arial"/>
                <a:cs typeface="Arial"/>
              </a:rPr>
              <a:t>Diferencia XGBoost menos LSTM: 0.0046. Intervalo por bloques [-0.0060, 0.0163], que incluye cero.</a:t>
            </a:r>
          </a:p>
        </p:txBody>
      </p:sp>
    </p:spTree>
    <p:extLst>
      <p:ext uri="{BB962C8B-B14F-4D97-AF65-F5344CB8AC3E}">
        <p14:creationId xmlns:p14="http://schemas.microsoft.com/office/powerpoint/2010/main" val="57961490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7610775-3A94-49C9-B996-650B90990CC7}"/>
              </a:ext>
            </a:extLst>
          </p:cNvPr>
          <p:cNvSpPr>
            <a:spLocks xmlns:a="http://schemas.openxmlformats.org/drawingml/2006/main" noGrp="1"/>
          </p:cNvSpPr>
          <p:nvPr/>
        </p:nvSpPr>
        <p:spPr>
          <a:xfrm xmlns:a="http://schemas.openxmlformats.org/drawingml/2006/main">
            <a:off x="685800" y="4286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0000"/>
                </a:solidFill>
                <a:latin typeface="Arial"/>
                <a:ea typeface="Arial"/>
                <a:cs typeface="Arial"/>
              </a:defRPr>
            </a:defPPr>
          </a:lstStyle>
          <a:p xmlns:a="http://schemas.openxmlformats.org/drawingml/2006/main">
            <a:pPr>
              <a:defRPr sz="3300" b="1">
                <a:solidFill>
                  <a:srgbClr val="000000"/>
                </a:solidFill>
                <a:latin typeface="Arial"/>
                <a:ea typeface="Arial"/>
                <a:cs typeface="Arial"/>
              </a:defRPr>
            </a:pPr>
            <a:r>
              <a:rPr sz="3300" b="1">
                <a:solidFill>
                  <a:srgbClr val="000000"/>
                </a:solidFill>
                <a:latin typeface="Arial"/>
                <a:ea typeface="Arial"/>
                <a:cs typeface="Arial"/>
              </a:rPr>
              <a:t>Aplicación para explorar y pronosticar</a:t>
            </a:r>
          </a:p>
        </p:txBody>
      </p:sp>
      <p:pic>
        <p:nvPicPr>
          <p:cNvPr id="2" name="">
            <a:extLst xmlns:a="http://schemas.openxmlformats.org/drawingml/2006/main">
              <a:ext uri="{FF2B5EF4-FFF2-40B4-BE49-F238E27FC236}">
                <a16:creationId xmlns:a16="http://schemas.microsoft.com/office/drawing/2014/main" id="{77A34617-4B5C-40C4-AA28-6B155E0B1921}"/>
              </a:ext>
            </a:extLst>
          </p:cNvPr>
          <p:cNvPicPr>
            <a:picLocks xmlns:a="http://schemas.openxmlformats.org/drawingml/2006/main" noChangeAspect="1"/>
          </p:cNvPicPr>
          <p:nvPr/>
        </p:nvPicPr>
        <p:blipFill>
          <a:blip xmlns:r="http://schemas.openxmlformats.org/officeDocument/2006/relationships" xmlns:a="http://schemas.openxmlformats.org/drawingml/2006/main" r:embed="R13cc7fbaadaa4ca8"/>
          <a:stretch xmlns:a="http://schemas.openxmlformats.org/drawingml/2006/main"/>
        </p:blipFill>
        <p:spPr>
          <a:xfrm xmlns:a="http://schemas.openxmlformats.org/drawingml/2006/main">
            <a:off x="3078480" y="1476375"/>
            <a:ext cx="6035040" cy="4191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9BCA34A9-CD5F-4299-B9F8-D46AE392BAC1}"/>
              </a:ext>
            </a:extLst>
          </p:cNvPr>
          <p:cNvSpPr>
            <a:spLocks xmlns:a="http://schemas.openxmlformats.org/drawingml/2006/main" noGrp="1"/>
          </p:cNvSpPr>
          <p:nvPr/>
        </p:nvSpPr>
        <p:spPr>
          <a:xfrm xmlns:a="http://schemas.openxmlformats.org/drawingml/2006/main">
            <a:off x="685800" y="585787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000000"/>
                </a:solidFill>
                <a:latin typeface="Arial"/>
                <a:ea typeface="Arial"/>
                <a:cs typeface="Arial"/>
              </a:defRPr>
            </a:defPPr>
          </a:lstStyle>
          <a:p xmlns:a="http://schemas.openxmlformats.org/drawingml/2006/main">
            <a:pPr>
              <a:defRPr sz="1725" b="0">
                <a:solidFill>
                  <a:srgbClr val="000000"/>
                </a:solidFill>
                <a:latin typeface="Arial"/>
                <a:ea typeface="Arial"/>
                <a:cs typeface="Arial"/>
              </a:defRPr>
            </a:pPr>
            <a:r>
              <a:rPr sz="1725" b="0">
                <a:solidFill>
                  <a:srgbClr val="000000"/>
                </a:solidFill>
                <a:latin typeface="Arial"/>
                <a:ea typeface="Arial"/>
                <a:cs typeface="Arial"/>
              </a:rPr>
              <a:t>Formulario o CSV, preparación automática, comparación de modelos y descarga de predicciones. El rendimiento interactivo puede mostrarse u ocultarse.</a:t>
            </a:r>
          </a:p>
        </p:txBody>
      </p:sp>
    </p:spTree>
    <p:extLst>
      <p:ext uri="{BB962C8B-B14F-4D97-AF65-F5344CB8AC3E}">
        <p14:creationId xmlns:p14="http://schemas.microsoft.com/office/powerpoint/2010/main" val="195353257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F5B2813-815B-463D-A614-D38A613B5245}"/>
              </a:ext>
            </a:extLst>
          </p:cNvPr>
          <p:cNvSpPr>
            <a:spLocks xmlns:a="http://schemas.openxmlformats.org/drawingml/2006/main" noGrp="1"/>
          </p:cNvSpPr>
          <p:nvPr/>
        </p:nvSpPr>
        <p:spPr>
          <a:xfrm xmlns:a="http://schemas.openxmlformats.org/drawingml/2006/main">
            <a:off x="685800" y="4286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0000"/>
                </a:solidFill>
                <a:latin typeface="Arial"/>
                <a:ea typeface="Arial"/>
                <a:cs typeface="Arial"/>
              </a:defRPr>
            </a:defPPr>
          </a:lstStyle>
          <a:p xmlns:a="http://schemas.openxmlformats.org/drawingml/2006/main">
            <a:pPr>
              <a:defRPr sz="3300" b="1">
                <a:solidFill>
                  <a:srgbClr val="000000"/>
                </a:solidFill>
                <a:latin typeface="Arial"/>
                <a:ea typeface="Arial"/>
                <a:cs typeface="Arial"/>
              </a:defRPr>
            </a:pPr>
            <a:r>
              <a:rPr sz="3300" b="1">
                <a:solidFill>
                  <a:srgbClr val="000000"/>
                </a:solidFill>
                <a:latin typeface="Arial"/>
                <a:ea typeface="Arial"/>
                <a:cs typeface="Arial"/>
              </a:rPr>
              <a:t>Conclusiones y límites de uso</a:t>
            </a:r>
          </a:p>
        </p:txBody>
      </p:sp>
      <p:sp>
        <p:nvSpPr>
          <p:cNvPr id="2" name="">
            <a:extLst xmlns:a="http://schemas.openxmlformats.org/drawingml/2006/main">
              <a:ext uri="{FF2B5EF4-FFF2-40B4-BE49-F238E27FC236}">
                <a16:creationId xmlns:a16="http://schemas.microsoft.com/office/drawing/2014/main" id="{B3D4115E-41B3-4EFF-8308-8126008ABE7B}"/>
              </a:ext>
            </a:extLst>
          </p:cNvPr>
          <p:cNvSpPr>
            <a:spLocks xmlns:a="http://schemas.openxmlformats.org/drawingml/2006/main" noGrp="1"/>
          </p:cNvSpPr>
          <p:nvPr/>
        </p:nvSpPr>
        <p:spPr>
          <a:xfrm xmlns:a="http://schemas.openxmlformats.org/drawingml/2006/main">
            <a:off x="685800" y="16192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00000"/>
                </a:solidFill>
                <a:latin typeface="Arial"/>
                <a:ea typeface="Arial"/>
                <a:cs typeface="Arial"/>
              </a:defRPr>
            </a:defPPr>
          </a:lstStyle>
          <a:p xmlns:a="http://schemas.openxmlformats.org/drawingml/2006/main">
            <a:pPr>
              <a:defRPr sz="2100" b="0">
                <a:solidFill>
                  <a:srgbClr val="000000"/>
                </a:solidFill>
                <a:latin typeface="Arial"/>
                <a:ea typeface="Arial"/>
                <a:cs typeface="Arial"/>
              </a:defRPr>
            </a:pPr>
            <a:r>
              <a:rPr sz="2100" b="0">
                <a:solidFill>
                  <a:srgbClr val="000000"/>
                </a:solidFill>
                <a:latin typeface="Arial"/>
                <a:ea typeface="Arial"/>
                <a:cs typeface="Arial"/>
              </a:rPr>
              <a:t>XGBoost quedó seleccionado con 2013. LSTM obtuvo el menor RMSE final descriptivo, con una diferencia pequeña e incierta frente a XGBoost.</a:t>
            </a:r>
          </a:p>
        </p:txBody>
      </p:sp>
      <p:sp>
        <p:nvSpPr>
          <p:cNvPr id="3" name="">
            <a:extLst xmlns:a="http://schemas.openxmlformats.org/drawingml/2006/main">
              <a:ext uri="{FF2B5EF4-FFF2-40B4-BE49-F238E27FC236}">
                <a16:creationId xmlns:a16="http://schemas.microsoft.com/office/drawing/2014/main" id="{8FA40261-80A5-4A36-84FA-82EF1AFA3283}"/>
              </a:ext>
            </a:extLst>
          </p:cNvPr>
          <p:cNvSpPr>
            <a:spLocks xmlns:a="http://schemas.openxmlformats.org/drawingml/2006/main" noGrp="1"/>
          </p:cNvSpPr>
          <p:nvPr/>
        </p:nvSpPr>
        <p:spPr>
          <a:xfrm xmlns:a="http://schemas.openxmlformats.org/drawingml/2006/main">
            <a:off x="685800" y="26479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00000"/>
                </a:solidFill>
                <a:latin typeface="Arial"/>
                <a:ea typeface="Arial"/>
                <a:cs typeface="Arial"/>
              </a:defRPr>
            </a:defPPr>
          </a:lstStyle>
          <a:p xmlns:a="http://schemas.openxmlformats.org/drawingml/2006/main">
            <a:pPr>
              <a:defRPr sz="2100" b="0">
                <a:solidFill>
                  <a:srgbClr val="000000"/>
                </a:solidFill>
                <a:latin typeface="Arial"/>
                <a:ea typeface="Arial"/>
                <a:cs typeface="Arial"/>
              </a:defRPr>
            </a:pPr>
            <a:r>
              <a:rPr sz="2100" b="0">
                <a:solidFill>
                  <a:srgbClr val="000000"/>
                </a:solidFill>
                <a:latin typeface="Arial"/>
                <a:ea typeface="Arial"/>
                <a:cs typeface="Arial"/>
              </a:rPr>
              <a:t>Las tres familias mejoraron la persistencia causal. La evaluación regional y por faltantes ayuda a interpretar esa mejora.</a:t>
            </a:r>
          </a:p>
        </p:txBody>
      </p:sp>
      <p:sp>
        <p:nvSpPr>
          <p:cNvPr id="4" name="">
            <a:extLst xmlns:a="http://schemas.openxmlformats.org/drawingml/2006/main">
              <a:ext uri="{FF2B5EF4-FFF2-40B4-BE49-F238E27FC236}">
                <a16:creationId xmlns:a16="http://schemas.microsoft.com/office/drawing/2014/main" id="{6BF63C67-E38F-4102-822F-5B7811A7B858}"/>
              </a:ext>
            </a:extLst>
          </p:cNvPr>
          <p:cNvSpPr>
            <a:spLocks xmlns:a="http://schemas.openxmlformats.org/drawingml/2006/main" noGrp="1"/>
          </p:cNvSpPr>
          <p:nvPr/>
        </p:nvSpPr>
        <p:spPr>
          <a:xfrm xmlns:a="http://schemas.openxmlformats.org/drawingml/2006/main">
            <a:off x="685800" y="36766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00000"/>
                </a:solidFill>
                <a:latin typeface="Arial"/>
                <a:ea typeface="Arial"/>
                <a:cs typeface="Arial"/>
              </a:defRPr>
            </a:defPPr>
          </a:lstStyle>
          <a:p xmlns:a="http://schemas.openxmlformats.org/drawingml/2006/main">
            <a:pPr>
              <a:defRPr sz="2100" b="0">
                <a:solidFill>
                  <a:srgbClr val="000000"/>
                </a:solidFill>
                <a:latin typeface="Arial"/>
                <a:ea typeface="Arial"/>
                <a:cs typeface="Arial"/>
              </a:defRPr>
            </a:pPr>
            <a:r>
              <a:rPr sz="2100" b="0">
                <a:solidFill>
                  <a:srgbClr val="000000"/>
                </a:solidFill>
                <a:latin typeface="Arial"/>
                <a:ea typeface="Arial"/>
                <a:cs typeface="Arial"/>
              </a:rPr>
              <a:t>La aplicación comparte el preprocesamiento del entrenamiento y distingue prueba reservada de producción.</a:t>
            </a:r>
          </a:p>
        </p:txBody>
      </p:sp>
      <p:sp>
        <p:nvSpPr>
          <p:cNvPr id="5" name="">
            <a:extLst xmlns:a="http://schemas.openxmlformats.org/drawingml/2006/main">
              <a:ext uri="{FF2B5EF4-FFF2-40B4-BE49-F238E27FC236}">
                <a16:creationId xmlns:a16="http://schemas.microsoft.com/office/drawing/2014/main" id="{247B5447-E800-4ACC-BB59-F9D5D262D973}"/>
              </a:ext>
            </a:extLst>
          </p:cNvPr>
          <p:cNvSpPr>
            <a:spLocks xmlns:a="http://schemas.openxmlformats.org/drawingml/2006/main" noGrp="1"/>
          </p:cNvSpPr>
          <p:nvPr/>
        </p:nvSpPr>
        <p:spPr>
          <a:xfrm xmlns:a="http://schemas.openxmlformats.org/drawingml/2006/main">
            <a:off x="685800" y="47053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00000"/>
                </a:solidFill>
                <a:latin typeface="Arial"/>
                <a:ea typeface="Arial"/>
                <a:cs typeface="Arial"/>
              </a:defRPr>
            </a:defPPr>
          </a:lstStyle>
          <a:p xmlns:a="http://schemas.openxmlformats.org/drawingml/2006/main">
            <a:pPr>
              <a:defRPr sz="2100" b="0">
                <a:solidFill>
                  <a:srgbClr val="000000"/>
                </a:solidFill>
                <a:latin typeface="Arial"/>
                <a:ea typeface="Arial"/>
                <a:cs typeface="Arial"/>
              </a:defRPr>
            </a:pPr>
            <a:r>
              <a:rPr sz="2100" b="0">
                <a:solidFill>
                  <a:srgbClr val="000000"/>
                </a:solidFill>
                <a:latin typeface="Arial"/>
                <a:ea typeface="Arial"/>
                <a:cs typeface="Arial"/>
              </a:rPr>
              <a:t>La evidencia corresponde a fechas futuras en celdas conocidas. No hay etiquetas de Test para verificar precisión en 2015-2018.</a:t>
            </a:r>
          </a:p>
        </p:txBody>
      </p:sp>
    </p:spTree>
    <p:extLst>
      <p:ext uri="{BB962C8B-B14F-4D97-AF65-F5344CB8AC3E}">
        <p14:creationId xmlns:p14="http://schemas.microsoft.com/office/powerpoint/2010/main" val="152081768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C448B17-C244-4388-8FCC-F62155AB88FC}"/>
              </a:ext>
            </a:extLst>
          </p:cNvPr>
          <p:cNvSpPr>
            <a:spLocks xmlns:a="http://schemas.openxmlformats.org/drawingml/2006/main" noGrp="1"/>
          </p:cNvSpPr>
          <p:nvPr/>
        </p:nvSpPr>
        <p:spPr>
          <a:xfrm xmlns:a="http://schemas.openxmlformats.org/drawingml/2006/main">
            <a:off x="685800" y="42862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000000"/>
                </a:solidFill>
                <a:latin typeface="Arial"/>
                <a:ea typeface="Arial"/>
                <a:cs typeface="Arial"/>
              </a:defRPr>
            </a:defPPr>
          </a:lstStyle>
          <a:p xmlns:a="http://schemas.openxmlformats.org/drawingml/2006/main">
            <a:pPr>
              <a:defRPr sz="3300" b="1">
                <a:solidFill>
                  <a:srgbClr val="000000"/>
                </a:solidFill>
                <a:latin typeface="Arial"/>
                <a:ea typeface="Arial"/>
                <a:cs typeface="Arial"/>
              </a:defRPr>
            </a:pPr>
            <a:r>
              <a:rPr sz="3300" b="1">
                <a:solidFill>
                  <a:srgbClr val="000000"/>
                </a:solidFill>
                <a:latin typeface="Arial"/>
                <a:ea typeface="Arial"/>
                <a:cs typeface="Arial"/>
              </a:rPr>
              <a:t>Entrega y reproducción del proyecto</a:t>
            </a:r>
          </a:p>
        </p:txBody>
      </p:sp>
      <p:sp>
        <p:nvSpPr>
          <p:cNvPr id="2" name="">
            <a:extLst xmlns:a="http://schemas.openxmlformats.org/drawingml/2006/main">
              <a:ext uri="{FF2B5EF4-FFF2-40B4-BE49-F238E27FC236}">
                <a16:creationId xmlns:a16="http://schemas.microsoft.com/office/drawing/2014/main" id="{7C03C983-CE66-4138-B0A5-4D5BB478EF5B}"/>
              </a:ext>
            </a:extLst>
          </p:cNvPr>
          <p:cNvSpPr>
            <a:spLocks xmlns:a="http://schemas.openxmlformats.org/drawingml/2006/main" noGrp="1"/>
          </p:cNvSpPr>
          <p:nvPr/>
        </p:nvSpPr>
        <p:spPr>
          <a:xfrm xmlns:a="http://schemas.openxmlformats.org/drawingml/2006/main">
            <a:off x="685800" y="16192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00000"/>
                </a:solidFill>
                <a:latin typeface="Arial"/>
                <a:ea typeface="Arial"/>
                <a:cs typeface="Arial"/>
              </a:defRPr>
            </a:defPPr>
          </a:lstStyle>
          <a:p xmlns:a="http://schemas.openxmlformats.org/drawingml/2006/main">
            <a:pPr>
              <a:defRPr sz="2100" b="0">
                <a:solidFill>
                  <a:srgbClr val="000000"/>
                </a:solidFill>
                <a:latin typeface="Arial"/>
                <a:ea typeface="Arial"/>
                <a:cs typeface="Arial"/>
              </a:defRPr>
            </a:pPr>
            <a:r>
              <a:rPr sz="2100" b="0">
                <a:solidFill>
                  <a:srgbClr val="000000"/>
                </a:solidFill>
                <a:latin typeface="Arial"/>
                <a:ea typeface="Arial"/>
                <a:cs typeface="Arial"/>
              </a:rPr>
              <a:t>Informe final en Word y PDF, con referencias APA, metodología, resultados y capturas.</a:t>
            </a:r>
          </a:p>
        </p:txBody>
      </p:sp>
      <p:sp>
        <p:nvSpPr>
          <p:cNvPr id="3" name="">
            <a:extLst xmlns:a="http://schemas.openxmlformats.org/drawingml/2006/main">
              <a:ext uri="{FF2B5EF4-FFF2-40B4-BE49-F238E27FC236}">
                <a16:creationId xmlns:a16="http://schemas.microsoft.com/office/drawing/2014/main" id="{212BA799-87CE-4A79-8D0F-B969514639CD}"/>
              </a:ext>
            </a:extLst>
          </p:cNvPr>
          <p:cNvSpPr>
            <a:spLocks xmlns:a="http://schemas.openxmlformats.org/drawingml/2006/main" noGrp="1"/>
          </p:cNvSpPr>
          <p:nvPr/>
        </p:nvSpPr>
        <p:spPr>
          <a:xfrm xmlns:a="http://schemas.openxmlformats.org/drawingml/2006/main">
            <a:off x="685800" y="26193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00000"/>
                </a:solidFill>
                <a:latin typeface="Arial"/>
                <a:ea typeface="Arial"/>
                <a:cs typeface="Arial"/>
              </a:defRPr>
            </a:defPPr>
          </a:lstStyle>
          <a:p xmlns:a="http://schemas.openxmlformats.org/drawingml/2006/main">
            <a:pPr>
              <a:defRPr sz="2100" b="0">
                <a:solidFill>
                  <a:srgbClr val="000000"/>
                </a:solidFill>
                <a:latin typeface="Arial"/>
                <a:ea typeface="Arial"/>
                <a:cs typeface="Arial"/>
              </a:defRPr>
            </a:pPr>
            <a:r>
              <a:rPr sz="2100" b="0">
                <a:solidFill>
                  <a:srgbClr val="000000"/>
                </a:solidFill>
                <a:latin typeface="Arial"/>
                <a:ea typeface="Arial"/>
                <a:cs typeface="Arial"/>
              </a:rPr>
              <a:t>Código y notebook ejecutado, modelos guardados, tablas, figuras y predicciones completas de Test.</a:t>
            </a:r>
          </a:p>
        </p:txBody>
      </p:sp>
      <p:sp>
        <p:nvSpPr>
          <p:cNvPr id="4" name="">
            <a:extLst xmlns:a="http://schemas.openxmlformats.org/drawingml/2006/main">
              <a:ext uri="{FF2B5EF4-FFF2-40B4-BE49-F238E27FC236}">
                <a16:creationId xmlns:a16="http://schemas.microsoft.com/office/drawing/2014/main" id="{9A723DF6-4092-4998-8107-5B5680630706}"/>
              </a:ext>
            </a:extLst>
          </p:cNvPr>
          <p:cNvSpPr>
            <a:spLocks xmlns:a="http://schemas.openxmlformats.org/drawingml/2006/main" noGrp="1"/>
          </p:cNvSpPr>
          <p:nvPr/>
        </p:nvSpPr>
        <p:spPr>
          <a:xfrm xmlns:a="http://schemas.openxmlformats.org/drawingml/2006/main">
            <a:off x="685800" y="36195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00000"/>
                </a:solidFill>
                <a:latin typeface="Arial"/>
                <a:ea typeface="Arial"/>
                <a:cs typeface="Arial"/>
              </a:defRPr>
            </a:defPPr>
          </a:lstStyle>
          <a:p xmlns:a="http://schemas.openxmlformats.org/drawingml/2006/main">
            <a:pPr>
              <a:defRPr sz="2100" b="0">
                <a:solidFill>
                  <a:srgbClr val="000000"/>
                </a:solidFill>
                <a:latin typeface="Arial"/>
                <a:ea typeface="Arial"/>
                <a:cs typeface="Arial"/>
              </a:defRPr>
            </a:pPr>
            <a:r>
              <a:rPr sz="2100" b="0">
                <a:solidFill>
                  <a:srgbClr val="000000"/>
                </a:solidFill>
                <a:latin typeface="Arial"/>
                <a:ea typeface="Arial"/>
                <a:cs typeface="Arial"/>
              </a:rPr>
              <a:t>Aplicación local: python -m streamlit run app.py</a:t>
            </a:r>
          </a:p>
        </p:txBody>
      </p:sp>
      <p:sp>
        <p:nvSpPr>
          <p:cNvPr id="5" name="">
            <a:extLst xmlns:a="http://schemas.openxmlformats.org/drawingml/2006/main">
              <a:ext uri="{FF2B5EF4-FFF2-40B4-BE49-F238E27FC236}">
                <a16:creationId xmlns:a16="http://schemas.microsoft.com/office/drawing/2014/main" id="{199C485E-4FE7-469C-BB8E-043AABD4F11C}"/>
              </a:ext>
            </a:extLst>
          </p:cNvPr>
          <p:cNvSpPr>
            <a:spLocks xmlns:a="http://schemas.openxmlformats.org/drawingml/2006/main" noGrp="1"/>
          </p:cNvSpPr>
          <p:nvPr/>
        </p:nvSpPr>
        <p:spPr>
          <a:xfrm xmlns:a="http://schemas.openxmlformats.org/drawingml/2006/main">
            <a:off x="685800" y="4619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00000"/>
                </a:solidFill>
                <a:latin typeface="Arial"/>
                <a:ea typeface="Arial"/>
                <a:cs typeface="Arial"/>
              </a:defRPr>
            </a:defPPr>
          </a:lstStyle>
          <a:p xmlns:a="http://schemas.openxmlformats.org/drawingml/2006/main">
            <a:pPr>
              <a:defRPr sz="2100" b="0">
                <a:solidFill>
                  <a:srgbClr val="000000"/>
                </a:solidFill>
                <a:latin typeface="Arial"/>
                <a:ea typeface="Arial"/>
                <a:cs typeface="Arial"/>
              </a:defRPr>
            </a:pPr>
            <a:r>
              <a:rPr sz="2100" b="0">
                <a:solidFill>
                  <a:srgbClr val="000000"/>
                </a:solidFill>
                <a:latin typeface="Arial"/>
                <a:ea typeface="Arial"/>
                <a:cs typeface="Arial"/>
              </a:rPr>
              <a:t>Repositorio: github.com/Javiervalladares1/CC3084-Proyecto2-Drought-EDA</a:t>
            </a:r>
          </a:p>
        </p:txBody>
      </p:sp>
    </p:spTree>
    <p:extLst>
      <p:ext uri="{BB962C8B-B14F-4D97-AF65-F5344CB8AC3E}">
        <p14:creationId xmlns:p14="http://schemas.microsoft.com/office/powerpoint/2010/main" val="7698287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2026-10-13T15:54:10.9270000Z</dcterms:created>
  <dcterms:modified xsi:type="dcterms:W3CDTF">2026-10-13T15:54:10.9270000Z</dcterms:modified>
</coreProperties>
</file>